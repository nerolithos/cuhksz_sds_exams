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41"/>
  </p:notesMasterIdLst>
  <p:sldIdLst>
    <p:sldId id="256" r:id="rId3"/>
    <p:sldId id="287" r:id="rId4"/>
    <p:sldId id="341" r:id="rId5"/>
    <p:sldId id="337" r:id="rId6"/>
    <p:sldId id="343" r:id="rId7"/>
    <p:sldId id="266" r:id="rId8"/>
    <p:sldId id="307" r:id="rId9"/>
    <p:sldId id="354" r:id="rId10"/>
    <p:sldId id="355" r:id="rId11"/>
    <p:sldId id="338" r:id="rId12"/>
    <p:sldId id="351" r:id="rId13"/>
    <p:sldId id="364" r:id="rId14"/>
    <p:sldId id="348" r:id="rId15"/>
    <p:sldId id="350" r:id="rId16"/>
    <p:sldId id="356" r:id="rId17"/>
    <p:sldId id="352" r:id="rId18"/>
    <p:sldId id="363" r:id="rId19"/>
    <p:sldId id="311" r:id="rId20"/>
    <p:sldId id="357" r:id="rId21"/>
    <p:sldId id="345" r:id="rId22"/>
    <p:sldId id="310" r:id="rId23"/>
    <p:sldId id="331" r:id="rId24"/>
    <p:sldId id="296" r:id="rId25"/>
    <p:sldId id="322" r:id="rId26"/>
    <p:sldId id="289" r:id="rId27"/>
    <p:sldId id="319" r:id="rId28"/>
    <p:sldId id="267" r:id="rId29"/>
    <p:sldId id="324" r:id="rId30"/>
    <p:sldId id="342" r:id="rId31"/>
    <p:sldId id="339" r:id="rId32"/>
    <p:sldId id="316" r:id="rId33"/>
    <p:sldId id="321" r:id="rId34"/>
    <p:sldId id="320" r:id="rId35"/>
    <p:sldId id="317" r:id="rId36"/>
    <p:sldId id="358" r:id="rId37"/>
    <p:sldId id="360" r:id="rId38"/>
    <p:sldId id="361" r:id="rId39"/>
    <p:sldId id="362" r:id="rId4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386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counter (</a:t>
            </a:r>
            <a:r>
              <a:rPr lang="en-US" dirty="0" err="1"/>
              <a:t>i</a:t>
            </a:r>
            <a:r>
              <a:rPr lang="en-US" dirty="0"/>
              <a:t>==0) or linked list (</a:t>
            </a:r>
            <a:r>
              <a:rPr lang="en-US" dirty="0" err="1"/>
              <a:t>ptr</a:t>
            </a:r>
            <a:r>
              <a:rPr lang="en-US" dirty="0"/>
              <a:t> == NULL)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213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Quad-precision, FP16, and Bfloat16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501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419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7866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33324"/>
            <a:ext cx="10363200" cy="147002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CSC3060 – Computer Systems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1509" y="3303597"/>
            <a:ext cx="9458632" cy="947390"/>
          </a:xfrm>
        </p:spPr>
        <p:txBody>
          <a:bodyPr/>
          <a:lstStyle/>
          <a:p>
            <a:r>
              <a:rPr lang="en-US" altLang="zh-TW" sz="4800" dirty="0"/>
              <a:t>Quiz 3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914400" y="1733324"/>
            <a:ext cx="10363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I</a:t>
            </a:r>
          </a:p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(Single Answer)</a:t>
            </a:r>
            <a:endParaRPr lang="zh-TW" altLang="en-US" sz="60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870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467833"/>
            <a:ext cx="936307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1) Three common hazards can often reduce the efficiency of a pipelined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datapath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Which of the following is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one of the three hazards? </a:t>
            </a:r>
          </a:p>
          <a:p>
            <a:pPr marL="457176" lvl="1" indent="0">
              <a:buNone/>
            </a:pP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Structure hazards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kumimoji="1" lang="en-US" sz="40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Forward hazards 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Data hazards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4) Control hazards</a:t>
            </a:r>
          </a:p>
          <a:p>
            <a:pPr marL="1200126" lvl="1" indent="-742950">
              <a:buAutoNum type="arabicParenR"/>
            </a:pP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5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75935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7275" y="467833"/>
            <a:ext cx="953452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Which extension, if absent, would make RISC-V a fixed-length ISA?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extension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 extension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 extension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 extension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 extension</a:t>
            </a: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8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393970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Which of the following microarchitectures could have a CPI lower than 1?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Single-cycle data path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Multi-cycle data path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Pipelined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Superscalar implementation</a:t>
            </a: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39811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9226" y="467833"/>
            <a:ext cx="9990306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When comparing the performance of single-cycle, multi-cycle, and pipelined data paths, which statements is correct?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1) Single-cycle &gt; Multi-cycle &gt; Pipelined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Pipelined &gt; Multi-cycle &gt; Single-cycle</a:t>
            </a:r>
          </a:p>
          <a:p>
            <a:pPr marL="0" indent="0">
              <a:buNone/>
              <a:defRPr/>
            </a:pPr>
            <a:r>
              <a:rPr kumimoji="0" lang="en-US" sz="2800" kern="1200" dirty="0">
                <a:solidFill>
                  <a:prstClr val="black"/>
                </a:solidFill>
                <a:latin typeface="Arial"/>
                <a:ea typeface="新細明體"/>
              </a:rPr>
              <a:t>3)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Pipelined &gt; Single-cycle &gt; Multi-cycle 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Multi-cycle &gt; Pipelined &gt; Single-cycle 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75399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5) Frequent pipeline stalls are likely to occur when traversing a long linked list due to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</a:rPr>
              <a:t>Delay hazards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</a:rPr>
              <a:t>Date hazards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Data hazards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Control hazards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15731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9226" y="467833"/>
            <a:ext cx="9990306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6) Branch prediction should be carried out during which stages of the pipeline?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1) </a:t>
            </a:r>
            <a:r>
              <a:rPr kumimoji="0" lang="en-US" sz="2800" kern="1200" dirty="0">
                <a:solidFill>
                  <a:prstClr val="black"/>
                </a:solidFill>
                <a:latin typeface="Arial"/>
                <a:ea typeface="新細明體"/>
              </a:rPr>
              <a:t>IF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</a:t>
            </a:r>
            <a:r>
              <a:rPr kumimoji="0" lang="en-US" altLang="zh-TW" sz="2800" kern="1200" dirty="0">
                <a:solidFill>
                  <a:prstClr val="black"/>
                </a:solidFill>
                <a:latin typeface="Arial"/>
                <a:ea typeface="新細明體"/>
                <a:cs typeface="Arial Unicode MS" panose="020B0604020202020204" pitchFamily="34" charset="-128"/>
              </a:rPr>
              <a:t>ID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</a:t>
            </a:r>
            <a:r>
              <a:rPr kumimoji="0" lang="en-US" altLang="zh-TW" sz="2800" kern="1200" dirty="0">
                <a:solidFill>
                  <a:prstClr val="black"/>
                </a:solidFill>
                <a:latin typeface="Arial"/>
                <a:ea typeface="新細明體"/>
                <a:cs typeface="Arial Unicode MS" panose="020B0604020202020204" pitchFamily="34" charset="-128"/>
              </a:rPr>
              <a:t>EXE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</a:t>
            </a:r>
            <a:r>
              <a:rPr kumimoji="0" lang="en-US" altLang="zh-TW" sz="2800" kern="1200" dirty="0">
                <a:solidFill>
                  <a:prstClr val="black"/>
                </a:solidFill>
                <a:latin typeface="Arial"/>
                <a:ea typeface="新細明體"/>
                <a:cs typeface="Arial Unicode MS" panose="020B0604020202020204" pitchFamily="34" charset="-128"/>
              </a:rPr>
              <a:t>MEM</a:t>
            </a:r>
          </a:p>
          <a:p>
            <a:pPr marL="0" indent="0">
              <a:buNone/>
              <a:defRPr/>
            </a:pPr>
            <a:r>
              <a:rPr kumimoji="0" lang="en-US" altLang="zh-TW" sz="2800" kern="1200" dirty="0">
                <a:solidFill>
                  <a:prstClr val="black"/>
                </a:solidFill>
                <a:latin typeface="Arial"/>
                <a:ea typeface="新細明體"/>
                <a:cs typeface="Arial Unicode MS" panose="020B0604020202020204" pitchFamily="34" charset="-128"/>
              </a:rPr>
              <a:t>5) WB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41685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467833"/>
            <a:ext cx="10223567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7) Which of the following functional units is the most difficult to pipeline?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</a:rPr>
              <a:t>Integer multiply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</a:rPr>
              <a:t>Floating point add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Floating point multiply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Integer divide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Fused multiply-and-accumulate (FMAC)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208508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467833"/>
            <a:ext cx="936307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8) A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Von Neumann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machine is depicted on the right. What is the so-called “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Von Neumann bottleneck” in a pipelined data path</a:t>
            </a:r>
            <a:r>
              <a:rPr lang="en-US" sz="2800" dirty="0">
                <a:solidFill>
                  <a:schemeClr val="tx2"/>
                </a:solidFill>
                <a:ea typeface="Arial Unicode MS" panose="020B0604020202020204" pitchFamily="34" charset="-128"/>
              </a:rPr>
              <a:t>?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  <a:p>
            <a:pPr marL="0" indent="0">
              <a:buNone/>
              <a:defRPr/>
            </a:pPr>
            <a:endParaRPr lang="en-US" sz="2800" baseline="30000" dirty="0">
              <a:solidFill>
                <a:schemeClr val="tx2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FF"/>
              </a:buClr>
              <a:buSzPts val="1000"/>
              <a:buFont typeface="Arial" charset="0"/>
              <a:buNone/>
              <a:tabLst>
                <a:tab pos="914400" algn="l"/>
              </a:tabLst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It is like a structural hazard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FF"/>
              </a:buClr>
              <a:buSzPts val="1000"/>
              <a:buFont typeface="Arial" charset="0"/>
              <a:buNone/>
              <a:tabLst>
                <a:tab pos="914400" algn="l"/>
              </a:tabLst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It is like a data hazard </a:t>
            </a:r>
          </a:p>
          <a:p>
            <a:pPr marL="457200" marR="0" lvl="1" indent="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FF"/>
              </a:buClr>
              <a:buSzPts val="1000"/>
              <a:buFont typeface="Arial" charset="0"/>
              <a:buNone/>
              <a:tabLst>
                <a:tab pos="914400" algn="l"/>
              </a:tabLst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It is like a control hazard</a:t>
            </a:r>
          </a:p>
          <a:p>
            <a:pPr marL="457200" marR="0" lvl="1" indent="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FF"/>
              </a:buClr>
              <a:buSzPts val="1000"/>
              <a:buFont typeface="Arial" charset="0"/>
              <a:buNone/>
              <a:tabLst>
                <a:tab pos="914400" algn="l"/>
              </a:tabLst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It is like a memory hazard </a:t>
            </a: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6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3AA8B-6DD7-4997-96D5-60E0A3D8B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615" y="1733313"/>
            <a:ext cx="2648320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6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9) Which of the following microarchitectures is unlikely to be used by Apple’s M4 processor (i.e., the latest one)? 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altLang="zh-TW" sz="2800" dirty="0">
              <a:solidFill>
                <a:schemeClr val="tx2"/>
              </a:solidFill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Dynamic branch prediction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Pipelined data path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Static branch prediction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BTB-based prediction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971550" marR="0" lvl="1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AutoNum type="arabicParenR"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971550" marR="0" lvl="1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AutoNum type="arabicParenR"/>
              <a:tabLst>
                <a:tab pos="914400" algn="l"/>
              </a:tabLst>
            </a:pP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971526" lvl="1" indent="-514350">
              <a:buFont typeface="+mj-lt"/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10924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10) Which RV32I instruction has the greatest impact on the clock rate of the single-cycle data path?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altLang="zh-TW" sz="2800" dirty="0">
              <a:solidFill>
                <a:schemeClr val="tx2"/>
              </a:solidFill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JALR X0, 0(X2)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LW X1,4(X2)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SLL X1,X2,X3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LUI X5, 0x12345</a:t>
            </a:r>
          </a:p>
          <a:p>
            <a:pPr marL="971550" marR="0" lvl="1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AutoNum type="arabicParenR"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971550" marR="0" lvl="1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AutoNum type="arabicParenR"/>
              <a:tabLst>
                <a:tab pos="914400" algn="l"/>
              </a:tabLst>
            </a:pP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971526" lvl="1" indent="-514350">
              <a:buFont typeface="+mj-lt"/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4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3842968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609600" y="2619149"/>
            <a:ext cx="10363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II</a:t>
            </a:r>
          </a:p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(multiple answers) </a:t>
            </a:r>
          </a:p>
        </p:txBody>
      </p:sp>
    </p:spTree>
    <p:extLst>
      <p:ext uri="{BB962C8B-B14F-4D97-AF65-F5344CB8AC3E}">
        <p14:creationId xmlns:p14="http://schemas.microsoft.com/office/powerpoint/2010/main" val="246187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1575" y="467833"/>
            <a:ext cx="10620375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11)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MIPS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Microprocessor without Interlocked Pipeline Stages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reduces hardware cost by using software to avoid hazards, making the processor cheaper and faster. </a:t>
            </a:r>
            <a:r>
              <a:rPr lang="en-US" sz="28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What was the primary reason for its lack of success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?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Compatibility and Scalability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Non-competitive performance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Incompatible with x86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    4) John Hennessy was too occupied.</a:t>
            </a:r>
            <a:endParaRPr lang="en-US" altLang="zh-TW" sz="2800" dirty="0">
              <a:solidFill>
                <a:schemeClr val="tx2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971526" lvl="1" indent="-514350">
              <a:buFont typeface="+mj-lt"/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2064" y="5786735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369236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12) In which cases should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callee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-saved registers be considered for allocation?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</a:rPr>
              <a:t>Leaf routines</a:t>
            </a:r>
          </a:p>
          <a:p>
            <a:pPr marL="514350" indent="-514350">
              <a:buAutoNum type="arabicParenR"/>
              <a:defRPr/>
            </a:pPr>
            <a:r>
              <a:rPr lang="en-US" sz="2800" i="0" dirty="0">
                <a:solidFill>
                  <a:srgbClr val="111827"/>
                </a:solidFill>
                <a:effectLst/>
                <a:latin typeface="+mn-lt"/>
              </a:rPr>
              <a:t>A temporary value used heavily across multiple calls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</a:rPr>
              <a:t>Temporaries in expression evaluation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C Strings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Local variables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2,5</a:t>
            </a:r>
          </a:p>
        </p:txBody>
      </p:sp>
    </p:spTree>
    <p:extLst>
      <p:ext uri="{BB962C8B-B14F-4D97-AF65-F5344CB8AC3E}">
        <p14:creationId xmlns:p14="http://schemas.microsoft.com/office/powerpoint/2010/main" val="321143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467833"/>
            <a:ext cx="936307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13) Which of the following is a common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hardware technique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to reduce the penalty of data hazards? </a:t>
            </a:r>
          </a:p>
          <a:p>
            <a:pPr marL="457176" lvl="1" indent="0">
              <a:buNone/>
            </a:pP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Data forwarding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kumimoji="1" lang="en-US" sz="40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A deeper pipeline </a:t>
            </a: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Data Bypassing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4) Compiler code scheduling</a:t>
            </a:r>
          </a:p>
          <a:p>
            <a:pPr marL="457176" lvl="1" indent="0">
              <a:buNone/>
            </a:pP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</a:t>
            </a:r>
          </a:p>
        </p:txBody>
      </p:sp>
    </p:spTree>
    <p:extLst>
      <p:ext uri="{BB962C8B-B14F-4D97-AF65-F5344CB8AC3E}">
        <p14:creationId xmlns:p14="http://schemas.microsoft.com/office/powerpoint/2010/main" val="87492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467833"/>
            <a:ext cx="936307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14) Most modern microprocessors have split I/D caches. Why? </a:t>
            </a:r>
          </a:p>
          <a:p>
            <a:pPr marL="457176" lvl="1" indent="0">
              <a:buNone/>
            </a:pP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To avoid structural hazards in the pipeline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To get a higher cache hit rate</a:t>
            </a:r>
            <a:r>
              <a:rPr kumimoji="1" lang="en-US" sz="40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 </a:t>
            </a: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To increase reliability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4) To increase the cache access bandwidth</a:t>
            </a:r>
          </a:p>
          <a:p>
            <a:pPr marL="457176" lvl="1" indent="0">
              <a:buNone/>
            </a:pP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</a:t>
            </a:r>
          </a:p>
        </p:txBody>
      </p:sp>
    </p:spTree>
    <p:extLst>
      <p:ext uri="{BB962C8B-B14F-4D97-AF65-F5344CB8AC3E}">
        <p14:creationId xmlns:p14="http://schemas.microsoft.com/office/powerpoint/2010/main" val="2143851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15)</a:t>
            </a:r>
            <a:r>
              <a:rPr lang="en-US" sz="1100" b="1" dirty="0">
                <a:effectLst/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Compared to a pipelined data path, a single-cycle data path typically has: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Higher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throughput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Faster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clock rate 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Simple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control logic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A longer instruction latency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A lower CPI</a:t>
            </a: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3,5</a:t>
            </a:r>
          </a:p>
        </p:txBody>
      </p:sp>
    </p:spTree>
    <p:extLst>
      <p:ext uri="{BB962C8B-B14F-4D97-AF65-F5344CB8AC3E}">
        <p14:creationId xmlns:p14="http://schemas.microsoft.com/office/powerpoint/2010/main" val="318892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458325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16) Function A calls function B. In function A, three registers live across the call to B: $s1, $t0, and $a1. What registers must be saved/restored across the call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?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$s1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$t0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$a1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    4) None of them</a:t>
            </a:r>
            <a:endParaRPr lang="en-US" altLang="zh-TW" sz="2800" dirty="0">
              <a:solidFill>
                <a:schemeClr val="tx2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971526" lvl="1" indent="-514350">
              <a:buFont typeface="+mj-lt"/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</a:t>
            </a:r>
          </a:p>
        </p:txBody>
      </p:sp>
    </p:spTree>
    <p:extLst>
      <p:ext uri="{BB962C8B-B14F-4D97-AF65-F5344CB8AC3E}">
        <p14:creationId xmlns:p14="http://schemas.microsoft.com/office/powerpoint/2010/main" val="345637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4DDE-7270-DD15-A844-E60B7BAD2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33F29-EBE8-B26E-5A30-2592F1853A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24B9CFCB-5AE4-70BF-5425-6D81A1060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289" y="378767"/>
            <a:ext cx="10015312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17) </a:t>
            </a:r>
            <a:r>
              <a:rPr lang="en-US" altLang="zh-CN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are the essential principles of designing a pipelined </a:t>
            </a:r>
            <a:r>
              <a:rPr lang="en-US" altLang="zh-CN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datapath</a:t>
            </a:r>
            <a:r>
              <a:rPr lang="en-US" altLang="zh-CN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?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Multi-stage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partitioning</a:t>
            </a:r>
            <a:endParaRPr lang="en-US" sz="2800" dirty="0"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Overlapped execution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Increased throughput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Lowered instruction latency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Improved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resource utilization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F01BB5B7-85C6-EC35-3C61-A08259121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0711" y="6159334"/>
            <a:ext cx="2151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1,2,3,5</a:t>
            </a:r>
          </a:p>
        </p:txBody>
      </p:sp>
    </p:spTree>
    <p:extLst>
      <p:ext uri="{BB962C8B-B14F-4D97-AF65-F5344CB8AC3E}">
        <p14:creationId xmlns:p14="http://schemas.microsoft.com/office/powerpoint/2010/main" val="15101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18)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Which of the following are techniques used to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reduce</a:t>
            </a:r>
            <a:r>
              <a:rPr lang="en-US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the penalty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caused by control hazards?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Pipeline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stalls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BTB (Branch Target Buffer)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BHT (Branch History Table)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Data Bypassing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    5)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Data forwarding</a:t>
            </a:r>
            <a:endParaRPr lang="en-US" altLang="zh-TW" sz="2800" dirty="0">
              <a:solidFill>
                <a:schemeClr val="tx2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971526" lvl="1" indent="-514350">
              <a:buFont typeface="+mj-lt"/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9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</a:t>
            </a:r>
          </a:p>
        </p:txBody>
      </p:sp>
    </p:spTree>
    <p:extLst>
      <p:ext uri="{BB962C8B-B14F-4D97-AF65-F5344CB8AC3E}">
        <p14:creationId xmlns:p14="http://schemas.microsoft.com/office/powerpoint/2010/main" val="159747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19) What (HW/SW) strategies can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reduce pipeline stalls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caused by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data hazards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? </a:t>
            </a:r>
          </a:p>
          <a:p>
            <a:pPr marL="457176" lvl="1" indent="0">
              <a:buNone/>
            </a:pPr>
            <a:endParaRPr lang="en-US" altLang="zh-TW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Deeper pipeline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Data forwarding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Out-of-Order instruction execution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4) Compiler instruction scheduling</a:t>
            </a:r>
          </a:p>
          <a:p>
            <a:pPr marL="457176" lvl="1" indent="0">
              <a:buNone/>
            </a:pPr>
            <a:r>
              <a:rPr lang="en-US" sz="40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5) Branch prediction </a:t>
            </a:r>
          </a:p>
          <a:p>
            <a:pPr marL="1200126" lvl="1" indent="-742950">
              <a:buAutoNum type="arabicParenR"/>
            </a:pPr>
            <a:endParaRPr lang="en-US" sz="40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6" lvl="1" indent="0">
              <a:buNone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4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2,3,4</a:t>
            </a:r>
          </a:p>
        </p:txBody>
      </p:sp>
    </p:spTree>
    <p:extLst>
      <p:ext uri="{BB962C8B-B14F-4D97-AF65-F5344CB8AC3E}">
        <p14:creationId xmlns:p14="http://schemas.microsoft.com/office/powerpoint/2010/main" val="48841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799" y="467833"/>
            <a:ext cx="1004887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20) Which of the following are considered “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Microarchitecture states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/>
                <a:cs typeface="Arial Unicode MS" panose="020B0604020202020204" pitchFamily="34" charset="-128"/>
              </a:rPr>
              <a:t>? 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Arial Unicode MS" panose="020B0604020202020204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BHT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BTB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Floating-point registers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PC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Pipelined registers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4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1,2,5</a:t>
            </a:r>
          </a:p>
        </p:txBody>
      </p:sp>
    </p:spTree>
    <p:extLst>
      <p:ext uri="{BB962C8B-B14F-4D97-AF65-F5344CB8AC3E}">
        <p14:creationId xmlns:p14="http://schemas.microsoft.com/office/powerpoint/2010/main" val="28537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853C-096D-5522-D29C-6E201D6EE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66A30-C833-0715-E71F-C67493C125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114F5E29-B861-4210-1599-582A14AC24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288" y="378767"/>
            <a:ext cx="10687665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21) In practice, what might occur if we increase the number of pipeline stages from 5 to 20?  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The clock rate becomes 4X faster 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The branch misprediction penalty would increase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The data hazard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penalty would increase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The CPI would</a:t>
            </a:r>
            <a:r>
              <a:rPr lang="en-US" altLang="zh-CN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increase</a:t>
            </a:r>
            <a:endParaRPr lang="en-US" sz="2800" dirty="0"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</a:t>
            </a:r>
            <a:r>
              <a:rPr lang="en-US" altLang="zh-CN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More pipelined registers will be required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16DA6561-5A3D-C226-9F13-CA027F27B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0711" y="6159334"/>
            <a:ext cx="2151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2,3,4,5</a:t>
            </a:r>
          </a:p>
        </p:txBody>
      </p:sp>
    </p:spTree>
    <p:extLst>
      <p:ext uri="{BB962C8B-B14F-4D97-AF65-F5344CB8AC3E}">
        <p14:creationId xmlns:p14="http://schemas.microsoft.com/office/powerpoint/2010/main" val="402786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8699" y="429733"/>
            <a:ext cx="968692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22) What information is used to index a branch prediction table in correlated branch prediction (also known as 2-level adaptive branch prediction)?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Current PC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Branch instruction address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PC+4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Global branch history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0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</a:t>
            </a:r>
          </a:p>
        </p:txBody>
      </p:sp>
    </p:spTree>
    <p:extLst>
      <p:ext uri="{BB962C8B-B14F-4D97-AF65-F5344CB8AC3E}">
        <p14:creationId xmlns:p14="http://schemas.microsoft.com/office/powerpoint/2010/main" val="5537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23) Which of the following could be effective for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static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branch predictions?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Predict a backward branch taken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Predict a forward “</a:t>
            </a:r>
            <a:r>
              <a:rPr lang="en-US" sz="2800" b="1" dirty="0" err="1">
                <a:latin typeface="+mn-lt"/>
              </a:rPr>
              <a:t>beq</a:t>
            </a:r>
            <a:r>
              <a:rPr lang="en-US" sz="2800" dirty="0">
                <a:latin typeface="+mn-lt"/>
              </a:rPr>
              <a:t>  rs1, x0” </a:t>
            </a:r>
            <a:r>
              <a:rPr lang="en-US" sz="2800" b="1" dirty="0">
                <a:latin typeface="+mn-lt"/>
              </a:rPr>
              <a:t>not</a:t>
            </a:r>
            <a:r>
              <a:rPr lang="en-US" sz="2800" dirty="0">
                <a:latin typeface="+mn-lt"/>
              </a:rPr>
              <a:t> taken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Predict the “</a:t>
            </a:r>
            <a:r>
              <a:rPr kumimoji="1" lang="en-US" sz="28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beq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  rs1, </a:t>
            </a:r>
            <a:r>
              <a:rPr lang="en-US" sz="2800" dirty="0" err="1">
                <a:solidFill>
                  <a:prstClr val="black"/>
                </a:solidFill>
                <a:latin typeface="Arial"/>
              </a:rPr>
              <a:t>rs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2” </a:t>
            </a:r>
            <a:r>
              <a:rPr kumimoji="1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not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 taken</a:t>
            </a: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Predict the </a:t>
            </a:r>
            <a:r>
              <a:rPr lang="en-US" sz="2800" b="1" dirty="0" err="1">
                <a:latin typeface="+mn-lt"/>
              </a:rPr>
              <a:t>blt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instructions</a:t>
            </a:r>
            <a:r>
              <a:rPr lang="en-US" sz="2800" b="1" dirty="0">
                <a:latin typeface="+mn-lt"/>
              </a:rPr>
              <a:t> taken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Predict the JALR instruction </a:t>
            </a:r>
            <a:r>
              <a:rPr lang="en-US" sz="2800" b="1" dirty="0">
                <a:latin typeface="+mn-lt"/>
              </a:rPr>
              <a:t>not taken</a:t>
            </a:r>
          </a:p>
          <a:p>
            <a:pPr marL="514350" indent="-514350">
              <a:buFont typeface="+mj-lt"/>
              <a:buAutoNum type="arabicParenR"/>
              <a:defRPr/>
            </a:pPr>
            <a:endParaRPr lang="en-US" sz="2800" b="1" dirty="0">
              <a:latin typeface="+mn-lt"/>
            </a:endParaRP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</a:t>
            </a:r>
          </a:p>
        </p:txBody>
      </p:sp>
    </p:spTree>
    <p:extLst>
      <p:ext uri="{BB962C8B-B14F-4D97-AF65-F5344CB8AC3E}">
        <p14:creationId xmlns:p14="http://schemas.microsoft.com/office/powerpoint/2010/main" val="374419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0125" y="410683"/>
            <a:ext cx="942975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24) Why is a BHT (Branch History Table) usually untagged?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Simple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Fast access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Consume less energy 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Good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 for high-performance microprocessors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Cost-effective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None/>
              <a:tabLst/>
              <a:defRPr/>
            </a:pP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8917" y="5562601"/>
            <a:ext cx="21515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1,2,3,5</a:t>
            </a:r>
          </a:p>
        </p:txBody>
      </p:sp>
    </p:spTree>
    <p:extLst>
      <p:ext uri="{BB962C8B-B14F-4D97-AF65-F5344CB8AC3E}">
        <p14:creationId xmlns:p14="http://schemas.microsoft.com/office/powerpoint/2010/main" val="72291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25) Which of the following control signals must be propagated through the pipelined registers to the WB stage?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Rd (target register)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WRen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(write-enable)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WBsel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(Write back selection)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ALUctl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(ALU control)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6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</a:t>
            </a:r>
          </a:p>
        </p:txBody>
      </p:sp>
    </p:spTree>
    <p:extLst>
      <p:ext uri="{BB962C8B-B14F-4D97-AF65-F5344CB8AC3E}">
        <p14:creationId xmlns:p14="http://schemas.microsoft.com/office/powerpoint/2010/main" val="1512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26) Which of the following statements about single-cycle data path implementation is true?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CPI is 1, every instruction must finish in one cycle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clock cycle must accommodate the slowest instruction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resources in the data path cannot be reused in the same cycle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result is written back to the register file in the same clock cycle.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2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</a:t>
            </a:r>
          </a:p>
        </p:txBody>
      </p:sp>
    </p:spTree>
    <p:extLst>
      <p:ext uri="{BB962C8B-B14F-4D97-AF65-F5344CB8AC3E}">
        <p14:creationId xmlns:p14="http://schemas.microsoft.com/office/powerpoint/2010/main" val="263956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TW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8514" name="Rectangle 2">
                <a:extLst>
                  <a:ext uri="{FF2B5EF4-FFF2-40B4-BE49-F238E27FC236}">
                    <a16:creationId xmlns:a16="http://schemas.microsoft.com/office/drawing/2014/main" id="{626CA480-DB6F-464E-A9F6-E714613B345D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600200" y="467833"/>
                <a:ext cx="8991600" cy="5780567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r>
                  <a:rPr lang="en-US" altLang="zh-TW" sz="2800" dirty="0">
                    <a:solidFill>
                      <a:schemeClr val="tx2"/>
                    </a:solidFill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27) A basic block has 50 instructions; how many legal schedules are possible?</a:t>
                </a:r>
              </a:p>
              <a:p>
                <a:pPr marL="0" indent="0">
                  <a:buNone/>
                  <a:defRPr/>
                </a:pPr>
                <a:endParaRPr lang="en-US" altLang="zh-TW" sz="2800" dirty="0">
                  <a:solidFill>
                    <a:schemeClr val="tx2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514350" indent="-514350">
                  <a:buFont typeface="+mj-lt"/>
                  <a:buAutoNum type="arabicParenR"/>
                  <a:defRPr/>
                </a:pPr>
                <a:r>
                  <a:rPr lang="en-US" sz="2800" dirty="0">
                    <a:solidFill>
                      <a:schemeClr val="tx1"/>
                    </a:solidFill>
                    <a:latin typeface="+mn-lt"/>
                  </a:rPr>
                  <a:t>In the best case, there is only one schedule </a:t>
                </a:r>
              </a:p>
              <a:p>
                <a:pPr marL="514350" indent="-514350">
                  <a:buFont typeface="+mj-lt"/>
                  <a:buAutoNum type="arabicParenR"/>
                  <a:defRPr/>
                </a:pPr>
                <a:r>
                  <a:rPr lang="en-US" sz="2800" dirty="0">
                    <a:solidFill>
                      <a:schemeClr val="tx1"/>
                    </a:solidFill>
                    <a:latin typeface="+mn-lt"/>
                    <a:ea typeface="Arial Unicode MS" panose="020B0604020202020204" pitchFamily="34" charset="-128"/>
                  </a:rPr>
                  <a:t>In the best case, there are 50 legal schedules</a:t>
                </a:r>
              </a:p>
              <a:p>
                <a:pPr marL="514350" indent="-514350">
                  <a:buFont typeface="+mj-lt"/>
                  <a:buAutoNum type="arabicParenR"/>
                  <a:defRPr/>
                </a:pPr>
                <a:r>
                  <a:rPr lang="en-US" sz="2800" dirty="0">
                    <a:solidFill>
                      <a:schemeClr val="tx1"/>
                    </a:solidFill>
                    <a:latin typeface="+mn-lt"/>
                    <a:ea typeface="Arial Unicode MS" panose="020B0604020202020204" pitchFamily="34" charset="-128"/>
                  </a:rPr>
                  <a:t>In the worst case, there are 50! possible schedules</a:t>
                </a:r>
              </a:p>
              <a:p>
                <a:pPr marL="514350" indent="-514350">
                  <a:buFont typeface="+mj-lt"/>
                  <a:buAutoNum type="arabicParenR"/>
                  <a:defRPr/>
                </a:pPr>
                <a:r>
                  <a:rPr lang="en-US" sz="2800" dirty="0">
                    <a:solidFill>
                      <a:schemeClr val="tx1"/>
                    </a:solidFill>
                    <a:latin typeface="+mn-lt"/>
                    <a:ea typeface="Arial Unicode MS" panose="020B0604020202020204" pitchFamily="34" charset="-128"/>
                  </a:rPr>
                  <a:t>It is quadratic; the worst case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50</m:t>
                        </m:r>
                      </m:e>
                      <m:sup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n-lt"/>
                    <a:ea typeface="Arial Unicode MS" panose="020B0604020202020204" pitchFamily="34" charset="-128"/>
                  </a:rPr>
                  <a:t> schedules</a:t>
                </a:r>
                <a:endParaRPr lang="en-US" sz="2800" dirty="0">
                  <a:solidFill>
                    <a:schemeClr val="tx2"/>
                  </a:solidFill>
                  <a:latin typeface="+mn-lt"/>
                  <a:ea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448514" name="Rectangle 2">
                <a:extLst>
                  <a:ext uri="{FF2B5EF4-FFF2-40B4-BE49-F238E27FC236}">
                    <a16:creationId xmlns:a16="http://schemas.microsoft.com/office/drawing/2014/main" id="{626CA480-DB6F-464E-A9F6-E714613B3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00200" y="467833"/>
                <a:ext cx="8991600" cy="5780567"/>
              </a:xfrm>
              <a:blipFill>
                <a:blip r:embed="rId6"/>
                <a:stretch>
                  <a:fillRect l="-1424" t="-1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8" y="5562601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</a:t>
            </a:r>
          </a:p>
        </p:txBody>
      </p:sp>
    </p:spTree>
    <p:extLst>
      <p:ext uri="{BB962C8B-B14F-4D97-AF65-F5344CB8AC3E}">
        <p14:creationId xmlns:p14="http://schemas.microsoft.com/office/powerpoint/2010/main" val="170359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288" y="378767"/>
            <a:ext cx="10687665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28) A compiler can reorder instructions to avoid data hazards. However, what limitations does it often encounter? 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Code scheduling is error-prone 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Memory dependencies may not be known due to possible memory aliasing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Structur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al hazards are hard to deal with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Memory operation latencies are unknown and non-deterministic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1544" y="6159334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2,4</a:t>
            </a:r>
          </a:p>
        </p:txBody>
      </p:sp>
    </p:spTree>
    <p:extLst>
      <p:ext uri="{BB962C8B-B14F-4D97-AF65-F5344CB8AC3E}">
        <p14:creationId xmlns:p14="http://schemas.microsoft.com/office/powerpoint/2010/main" val="379965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74EF-A40E-A715-5650-740E25DE6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F9BC7-3E08-6DFA-6152-E671131F71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07110CDA-7F89-C372-64D4-7F00A35FD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288" y="378767"/>
            <a:ext cx="10687665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29) In our RV32I pipelined data path, w</a:t>
            </a:r>
            <a:r>
              <a:rPr lang="en-US" altLang="zh-CN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hich stage requires two adders?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IF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ID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EXE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MEM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WB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F7DE4DF1-197E-DFB4-EA20-603D5C63D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6959" y="6159334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83446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30)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When running a </a:t>
            </a:r>
            <a:r>
              <a:rPr lang="en-US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binary tree search 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on a pipelined data path, what hazards are likely to occur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? 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1)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Dependence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hazards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2) Structure hazards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3) Data hazards</a:t>
            </a:r>
            <a:endParaRPr lang="en-US" sz="2800" dirty="0">
              <a:effectLst/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4) Control hazards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5) </a:t>
            </a:r>
            <a:r>
              <a:rPr lang="en-US" sz="28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Branch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hazards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49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3,4</a:t>
            </a:r>
          </a:p>
        </p:txBody>
      </p:sp>
    </p:spTree>
    <p:extLst>
      <p:ext uri="{BB962C8B-B14F-4D97-AF65-F5344CB8AC3E}">
        <p14:creationId xmlns:p14="http://schemas.microsoft.com/office/powerpoint/2010/main" val="243246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31) Why do some RV pipelined data path designs utilize a </a:t>
            </a:r>
            <a:r>
              <a:rPr lang="en-US" altLang="zh-TW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comparison unit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to execute the compare-and-branch instructions instead of using the standard ALU</a:t>
            </a:r>
            <a:r>
              <a:rPr lang="en-US" sz="2800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?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To avoid structural hazards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Avoid setting the wrong ‘taken/not-taken’ due to integer subtraction overflows.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The ALU at the EXE stage is needed for R-type instructions and Load/Store instructions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Comparison operation does not trap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6690" y="5562601"/>
            <a:ext cx="15359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 </a:t>
            </a:r>
          </a:p>
        </p:txBody>
      </p:sp>
    </p:spTree>
    <p:extLst>
      <p:ext uri="{BB962C8B-B14F-4D97-AF65-F5344CB8AC3E}">
        <p14:creationId xmlns:p14="http://schemas.microsoft.com/office/powerpoint/2010/main" val="417361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32) Intel Pentium 4 has 31 pipeline stages</a:t>
            </a:r>
            <a:r>
              <a:rPr lang="en-US" altLang="zh-TW" sz="2800" dirty="0">
                <a:solidFill>
                  <a:schemeClr val="tx2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. A branch instruction is resolved pretty late, near the 31st stage.  If the branch misprediction rate is 2%, what would be the performance impact? (Assuming 20% of instructions are branches, and the average CPI is 1).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2%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6%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20%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12%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60%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sz="2800" dirty="0"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6690" y="5562601"/>
            <a:ext cx="15359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 </a:t>
            </a:r>
          </a:p>
        </p:txBody>
      </p:sp>
    </p:spTree>
    <p:extLst>
      <p:ext uri="{BB962C8B-B14F-4D97-AF65-F5344CB8AC3E}">
        <p14:creationId xmlns:p14="http://schemas.microsoft.com/office/powerpoint/2010/main" val="247949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33) What information is stored in the pipelined registers? </a:t>
            </a:r>
            <a:endParaRPr lang="en-US" sz="2800" dirty="0">
              <a:solidFill>
                <a:schemeClr val="tx2"/>
              </a:solidFill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Control signals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Data (ALU results, Register values, </a:t>
            </a:r>
            <a:r>
              <a:rPr lang="en-US" sz="2800" dirty="0" err="1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Immediates</a:t>
            </a: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)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Addresses (PC, PC+4, memory address)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Register </a:t>
            </a:r>
            <a:r>
              <a:rPr lang="en-US" sz="2800" b="0" i="0" dirty="0">
                <a:solidFill>
                  <a:schemeClr val="tx2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designators</a:t>
            </a:r>
            <a:r>
              <a:rPr lang="en-US" sz="1200" b="0" i="0" dirty="0">
                <a:solidFill>
                  <a:schemeClr val="tx2"/>
                </a:solidFill>
                <a:effectLst/>
                <a:latin typeface="+mn-lt"/>
              </a:rPr>
              <a:t>  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0442" y="5562601"/>
            <a:ext cx="22284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1,2,3,4 </a:t>
            </a:r>
          </a:p>
        </p:txBody>
      </p:sp>
    </p:spTree>
    <p:extLst>
      <p:ext uri="{BB962C8B-B14F-4D97-AF65-F5344CB8AC3E}">
        <p14:creationId xmlns:p14="http://schemas.microsoft.com/office/powerpoint/2010/main" val="163349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34) Which RV32I branch/jump instructions are most difficult to predict? </a:t>
            </a:r>
            <a:endParaRPr lang="en-US" sz="2800" dirty="0">
              <a:solidFill>
                <a:schemeClr val="tx2"/>
              </a:solidFill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Conditional branches such as BLT/BEQ/BNE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Unconditional jumps such as JAL, X0, target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Function calls such as JAL X1, </a:t>
            </a:r>
            <a:r>
              <a:rPr lang="en-US" sz="2800" dirty="0" err="1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function_name</a:t>
            </a: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Indirect branch for switches, such as JALR, 4(X1)</a:t>
            </a:r>
          </a:p>
          <a:p>
            <a:pPr marL="514350" indent="-514350"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Return branch, such as JALR, X0, 0($ra)</a:t>
            </a:r>
            <a:r>
              <a:rPr lang="en-US" sz="2800" b="0" i="0" dirty="0">
                <a:solidFill>
                  <a:schemeClr val="tx2"/>
                </a:solidFill>
                <a:effectLst/>
                <a:latin typeface="+mn-lt"/>
                <a:ea typeface="Arial Unicode MS" panose="020B0604020202020204" pitchFamily="34" charset="-128"/>
              </a:rPr>
              <a:t> </a:t>
            </a:r>
            <a:r>
              <a:rPr lang="en-US" sz="1200" b="0" i="0" dirty="0">
                <a:solidFill>
                  <a:schemeClr val="tx2"/>
                </a:solidFill>
                <a:effectLst/>
                <a:latin typeface="+mn-lt"/>
              </a:rPr>
              <a:t> 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6689" y="5562601"/>
            <a:ext cx="15359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 </a:t>
            </a:r>
          </a:p>
        </p:txBody>
      </p:sp>
    </p:spTree>
    <p:extLst>
      <p:ext uri="{BB962C8B-B14F-4D97-AF65-F5344CB8AC3E}">
        <p14:creationId xmlns:p14="http://schemas.microsoft.com/office/powerpoint/2010/main" val="30347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1" y="467833"/>
            <a:ext cx="10353674" cy="5780567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35) Intel Itanium has a post-increment load instruction: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	LW	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rd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imm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(rs1)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  Its register transfer behavior is as follows</a:t>
            </a:r>
          </a:p>
          <a:p>
            <a:pPr marL="457176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None/>
              <a:tabLst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		</a:t>
            </a:r>
            <a:r>
              <a:rPr kumimoji="1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56127A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</a:rPr>
              <a:t>rd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56127A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</a:rPr>
              <a:t> 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56127A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  <a:sym typeface="Wingdings" panose="05000000000000000000" pitchFamily="2" charset="2"/>
              </a:rPr>
              <a:t> </a:t>
            </a:r>
            <a:r>
              <a:rPr kumimoji="1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56127A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  <a:sym typeface="Wingdings" panose="05000000000000000000" pitchFamily="2" charset="2"/>
              </a:rPr>
              <a:t>mem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56127A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  <a:sym typeface="Wingdings" panose="05000000000000000000" pitchFamily="2" charset="2"/>
              </a:rPr>
              <a:t>[rs1 + </a:t>
            </a:r>
            <a:r>
              <a:rPr kumimoji="1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56127A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  <a:sym typeface="Wingdings" panose="05000000000000000000" pitchFamily="2" charset="2"/>
              </a:rPr>
              <a:t>imm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56127A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  <a:sym typeface="Wingdings" panose="05000000000000000000" pitchFamily="2" charset="2"/>
              </a:rPr>
              <a:t>]</a:t>
            </a:r>
          </a:p>
          <a:p>
            <a:pPr marL="457176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None/>
              <a:tabLst/>
              <a:defRPr/>
            </a:pPr>
            <a:r>
              <a:rPr lang="en-US" sz="2800" dirty="0">
                <a:solidFill>
                  <a:srgbClr val="56127A"/>
                </a:solidFill>
                <a:sym typeface="Wingdings" panose="05000000000000000000" pitchFamily="2" charset="2"/>
              </a:rPr>
              <a:t>		rs1  rs1 + </a:t>
            </a:r>
            <a:r>
              <a:rPr lang="en-US" sz="2800" dirty="0" err="1">
                <a:solidFill>
                  <a:srgbClr val="56127A"/>
                </a:solidFill>
                <a:sym typeface="Wingdings" panose="05000000000000000000" pitchFamily="2" charset="2"/>
              </a:rPr>
              <a:t>imm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srgbClr val="56127A"/>
              </a:solidFill>
              <a:effectLst/>
              <a:uLnTx/>
              <a:uFillTx/>
              <a:latin typeface="Calibri" pitchFamily="34" charset="0"/>
              <a:ea typeface="標楷體" pitchFamily="65" charset="-120"/>
              <a:sym typeface="Wingdings" panose="05000000000000000000" pitchFamily="2" charset="2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800" dirty="0">
                <a:solidFill>
                  <a:schemeClr val="tx2"/>
                </a:solidFill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Why does RISC-V not adopt this instruction?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solidFill>
                  <a:schemeClr val="tx2"/>
                </a:solidFill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This instruction is rarely used by the compiler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solidFill>
                  <a:schemeClr val="tx2"/>
                </a:solidFill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This instruction requires two register write ports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solidFill>
                  <a:schemeClr val="tx2"/>
                </a:solidFill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This instruction breaks the regularity: rs1 is both a source and a destination.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r>
              <a:rPr lang="en-US" sz="2800" dirty="0">
                <a:solidFill>
                  <a:schemeClr val="tx2"/>
                </a:solidFill>
                <a:latin typeface="+mn-lt"/>
                <a:ea typeface="PMingLiU" panose="02020500000000000000" pitchFamily="18" charset="-120"/>
                <a:cs typeface="Times New Roman" panose="02020603050405020304" pitchFamily="18" charset="0"/>
              </a:rPr>
              <a:t>This instruction is NIH (Not-Invented-Here) </a:t>
            </a:r>
          </a:p>
          <a:p>
            <a:pPr marL="514350" marR="0" lvl="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arenR"/>
              <a:tabLst>
                <a:tab pos="457200" algn="l"/>
              </a:tabLst>
            </a:pPr>
            <a:endParaRPr lang="en-US" sz="2800" dirty="0">
              <a:solidFill>
                <a:schemeClr val="tx2"/>
              </a:solidFill>
              <a:latin typeface="+mn-lt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0743" y="6243935"/>
            <a:ext cx="17668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 </a:t>
            </a:r>
          </a:p>
        </p:txBody>
      </p:sp>
    </p:spTree>
    <p:extLst>
      <p:ext uri="{BB962C8B-B14F-4D97-AF65-F5344CB8AC3E}">
        <p14:creationId xmlns:p14="http://schemas.microsoft.com/office/powerpoint/2010/main" val="25090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25370</TotalTime>
  <Words>1772</Words>
  <Application>Microsoft Office PowerPoint</Application>
  <PresentationFormat>Widescreen</PresentationFormat>
  <Paragraphs>366</Paragraphs>
  <Slides>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 Unicode MS</vt:lpstr>
      <vt:lpstr>MS Sans Serif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CSC3060 – Computer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326</cp:revision>
  <dcterms:created xsi:type="dcterms:W3CDTF">2020-07-15T11:13:39Z</dcterms:created>
  <dcterms:modified xsi:type="dcterms:W3CDTF">2026-03-24T01:09:20Z</dcterms:modified>
</cp:coreProperties>
</file>