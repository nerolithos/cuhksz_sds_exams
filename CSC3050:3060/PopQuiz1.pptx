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32"/>
  </p:notesMasterIdLst>
  <p:sldIdLst>
    <p:sldId id="256" r:id="rId3"/>
    <p:sldId id="277" r:id="rId4"/>
    <p:sldId id="286" r:id="rId5"/>
    <p:sldId id="287" r:id="rId6"/>
    <p:sldId id="305" r:id="rId7"/>
    <p:sldId id="288" r:id="rId8"/>
    <p:sldId id="289" r:id="rId9"/>
    <p:sldId id="266" r:id="rId10"/>
    <p:sldId id="300" r:id="rId11"/>
    <p:sldId id="301" r:id="rId12"/>
    <p:sldId id="280" r:id="rId13"/>
    <p:sldId id="306" r:id="rId14"/>
    <p:sldId id="308" r:id="rId15"/>
    <p:sldId id="282" r:id="rId16"/>
    <p:sldId id="278" r:id="rId17"/>
    <p:sldId id="284" r:id="rId18"/>
    <p:sldId id="290" r:id="rId19"/>
    <p:sldId id="309" r:id="rId20"/>
    <p:sldId id="291" r:id="rId21"/>
    <p:sldId id="292" r:id="rId22"/>
    <p:sldId id="307" r:id="rId23"/>
    <p:sldId id="294" r:id="rId24"/>
    <p:sldId id="295" r:id="rId25"/>
    <p:sldId id="297" r:id="rId26"/>
    <p:sldId id="283" r:id="rId27"/>
    <p:sldId id="310" r:id="rId28"/>
    <p:sldId id="311" r:id="rId29"/>
    <p:sldId id="312" r:id="rId30"/>
    <p:sldId id="313" r:id="rId3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5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2025/2/23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7866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33324"/>
            <a:ext cx="10363200" cy="1470025"/>
          </a:xfrm>
        </p:spPr>
        <p:txBody>
          <a:bodyPr/>
          <a:lstStyle/>
          <a:p>
            <a:pPr algn="ctr"/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endParaRPr lang="zh-TW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1509" y="3303597"/>
            <a:ext cx="9458632" cy="947390"/>
          </a:xfrm>
        </p:spPr>
        <p:txBody>
          <a:bodyPr/>
          <a:lstStyle/>
          <a:p>
            <a:r>
              <a:rPr lang="en-US" altLang="zh-TW" sz="4800" dirty="0"/>
              <a:t>Quiz 1 (group competition)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E74415-30E6-4BE5-9E20-77352570E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360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Example 1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Who are the authors of our textbook?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John Hennessy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RISC-V foundation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David Peterson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David Patterson</a:t>
            </a: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50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1,4</a:t>
            </a:r>
          </a:p>
        </p:txBody>
      </p:sp>
    </p:spTree>
    <p:extLst>
      <p:ext uri="{BB962C8B-B14F-4D97-AF65-F5344CB8AC3E}">
        <p14:creationId xmlns:p14="http://schemas.microsoft.com/office/powerpoint/2010/main" val="228571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TW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8514" name="Rectangle 2">
                <a:extLst>
                  <a:ext uri="{FF2B5EF4-FFF2-40B4-BE49-F238E27FC236}">
                    <a16:creationId xmlns:a16="http://schemas.microsoft.com/office/drawing/2014/main" id="{626CA480-DB6F-464E-A9F6-E714613B345D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600200" y="467833"/>
                <a:ext cx="8991600" cy="5780567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r>
                  <a:rPr lang="en-US" altLang="zh-TW" sz="2800" dirty="0">
                    <a:solidFill>
                      <a:schemeClr val="tx2"/>
                    </a:solidFill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Example 2</a:t>
                </a:r>
              </a:p>
              <a:p>
                <a:pPr marL="0" indent="0">
                  <a:buNone/>
                  <a:defRPr/>
                </a:pPr>
                <a:endParaRPr lang="en-US" altLang="zh-TW" sz="2800" dirty="0">
                  <a:solidFill>
                    <a:schemeClr val="tx2"/>
                  </a:solidFill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  <a:defRPr/>
                </a:pPr>
                <a:r>
                  <a:rPr lang="en-US" altLang="zh-TW" sz="2800" dirty="0">
                    <a:solidFill>
                      <a:schemeClr val="tx2"/>
                    </a:solidFill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Which of the following is the representation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4121</m:t>
                        </m:r>
                      </m:e>
                      <m:sub>
                        <m:r>
                          <a:rPr lang="en-US" altLang="zh-TW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altLang="zh-TW" sz="2800" dirty="0">
                    <a:solidFill>
                      <a:schemeClr val="tx2"/>
                    </a:solidFill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in 16bit.</a:t>
                </a:r>
              </a:p>
              <a:p>
                <a:pPr marL="0" indent="0">
                  <a:buNone/>
                  <a:defRPr/>
                </a:pPr>
                <a:endParaRPr lang="en-US" altLang="zh-TW" sz="2800" dirty="0">
                  <a:solidFill>
                    <a:schemeClr val="tx2"/>
                  </a:solidFill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514350" indent="-514350">
                  <a:buFont typeface="+mj-lt"/>
                  <a:buAutoNum type="arabicParenR"/>
                  <a:defRPr/>
                </a:pPr>
                <a:r>
                  <a:rPr lang="en-US" altLang="zh-TW" sz="2800" dirty="0">
                    <a:solidFill>
                      <a:schemeClr val="tx2"/>
                    </a:solidFill>
                    <a:latin typeface="+mn-lt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0b 0001000000011001</a:t>
                </a:r>
              </a:p>
              <a:p>
                <a:pPr marL="514350" indent="-514350">
                  <a:buFont typeface="+mj-lt"/>
                  <a:buAutoNum type="arabicParenR"/>
                  <a:defRPr/>
                </a:pPr>
                <a:r>
                  <a:rPr lang="en-US" altLang="zh-TW" sz="2800" dirty="0">
                    <a:solidFill>
                      <a:schemeClr val="tx2"/>
                    </a:solidFill>
                    <a:latin typeface="+mn-lt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0x FDF9</a:t>
                </a:r>
              </a:p>
              <a:p>
                <a:pPr marL="514350" indent="-514350">
                  <a:buFont typeface="+mj-lt"/>
                  <a:buAutoNum type="arabicParenR"/>
                  <a:defRPr/>
                </a:pPr>
                <a:r>
                  <a:rPr lang="en-US" altLang="zh-TW" sz="2800" dirty="0">
                    <a:solidFill>
                      <a:schemeClr val="tx2"/>
                    </a:solidFill>
                    <a:latin typeface="+mn-lt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0b 1000010001000101</a:t>
                </a:r>
              </a:p>
              <a:p>
                <a:pPr marL="514350" indent="-514350">
                  <a:buFont typeface="+mj-lt"/>
                  <a:buAutoNum type="arabicParenR"/>
                  <a:defRPr/>
                </a:pPr>
                <a:r>
                  <a:rPr lang="en-US" altLang="zh-TW" sz="2800" dirty="0">
                    <a:solidFill>
                      <a:schemeClr val="tx2"/>
                    </a:solidFill>
                    <a:latin typeface="+mn-lt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0x 1019</a:t>
                </a:r>
              </a:p>
              <a:p>
                <a:pPr marL="514350" indent="-514350">
                  <a:buFont typeface="+mj-lt"/>
                  <a:buAutoNum type="arabicParenR"/>
                  <a:defRPr/>
                </a:pPr>
                <a:endParaRPr lang="en-US" altLang="zh-TW" sz="2800" dirty="0">
                  <a:solidFill>
                    <a:schemeClr val="tx2"/>
                  </a:solidFill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514350" indent="-514350">
                  <a:buFont typeface="+mj-lt"/>
                  <a:buAutoNum type="arabicParenR"/>
                  <a:defRPr/>
                </a:pPr>
                <a:endParaRPr lang="en-US" altLang="zh-TW" sz="2800" dirty="0">
                  <a:solidFill>
                    <a:schemeClr val="tx2"/>
                  </a:solidFill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514350" indent="-514350">
                  <a:buFont typeface="+mj-lt"/>
                  <a:buAutoNum type="arabicParenR"/>
                  <a:defRPr/>
                </a:pPr>
                <a:endParaRPr lang="en-US" altLang="zh-TW" sz="2800" dirty="0">
                  <a:solidFill>
                    <a:schemeClr val="tx2"/>
                  </a:solidFill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448514" name="Rectangle 2">
                <a:extLst>
                  <a:ext uri="{FF2B5EF4-FFF2-40B4-BE49-F238E27FC236}">
                    <a16:creationId xmlns:a16="http://schemas.microsoft.com/office/drawing/2014/main" id="{626CA480-DB6F-464E-A9F6-E714613B34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600200" y="467833"/>
                <a:ext cx="8991600" cy="5780567"/>
              </a:xfrm>
              <a:blipFill>
                <a:blip r:embed="rId5"/>
                <a:stretch>
                  <a:fillRect l="-1424" t="-1160" r="-1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50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1,4</a:t>
            </a:r>
          </a:p>
        </p:txBody>
      </p:sp>
    </p:spTree>
    <p:extLst>
      <p:ext uri="{BB962C8B-B14F-4D97-AF65-F5344CB8AC3E}">
        <p14:creationId xmlns:p14="http://schemas.microsoft.com/office/powerpoint/2010/main" val="382186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809" y="243699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B3D363-C500-4159-9D2E-8E70FF01CF70}"/>
              </a:ext>
            </a:extLst>
          </p:cNvPr>
          <p:cNvSpPr txBox="1">
            <a:spLocks/>
          </p:cNvSpPr>
          <p:nvPr/>
        </p:nvSpPr>
        <p:spPr bwMode="auto">
          <a:xfrm>
            <a:off x="914400" y="1733324"/>
            <a:ext cx="103632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1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3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53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70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ctr"/>
            <a:r>
              <a:rPr lang="en-US" altLang="zh-TW" sz="6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you ready ?</a:t>
            </a:r>
            <a:endParaRPr lang="zh-TW" altLang="en-US" sz="600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8703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467833"/>
            <a:ext cx="1037272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1) What is Computer Architecture?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It is all about the hardware organization of a computer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It is all about writing assembly code.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Simply put, it is the interface between hardware and software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It includes ISA (Instruction Set Architecture) and its microarchitectures.</a:t>
            </a:r>
          </a:p>
          <a:p>
            <a:pPr marL="514350" indent="-514350">
              <a:buFont typeface="+mj-lt"/>
              <a:buAutoNum type="arabicParenR"/>
              <a:defRPr/>
            </a:pPr>
            <a:endParaRPr lang="en-US" sz="2800" dirty="0">
              <a:latin typeface="+mn-lt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8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3,4</a:t>
            </a:r>
          </a:p>
        </p:txBody>
      </p:sp>
    </p:spTree>
    <p:extLst>
      <p:ext uri="{BB962C8B-B14F-4D97-AF65-F5344CB8AC3E}">
        <p14:creationId xmlns:p14="http://schemas.microsoft.com/office/powerpoint/2010/main" val="137854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2) What are the general RISC hardware design principles?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Simplicity favors regularity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Smaller is faster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KISS (Keep It Simple, Stupid)</a:t>
            </a:r>
            <a:endParaRPr lang="en-US" sz="2800" dirty="0">
              <a:latin typeface="+mn-lt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Good design demands good compromises</a:t>
            </a:r>
            <a:endParaRPr lang="en-US" sz="2800" dirty="0">
              <a:latin typeface="+mn-lt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Make common cases fast</a:t>
            </a:r>
          </a:p>
          <a:p>
            <a:pPr marL="514350" indent="-514350">
              <a:buFont typeface="+mj-lt"/>
              <a:buAutoNum type="arabicParenR"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8916" y="5562601"/>
            <a:ext cx="21515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1,2,4,5</a:t>
            </a:r>
          </a:p>
        </p:txBody>
      </p:sp>
    </p:spTree>
    <p:extLst>
      <p:ext uri="{BB962C8B-B14F-4D97-AF65-F5344CB8AC3E}">
        <p14:creationId xmlns:p14="http://schemas.microsoft.com/office/powerpoint/2010/main" val="13651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3) Which of the following RV32I instructions can </a:t>
            </a:r>
            <a:r>
              <a:rPr lang="en-US" altLang="zh-TW" sz="2800" b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clear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the register X1?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XOR X1, X1,X1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ADD X1, X0,X0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ADD X1, X0,X1</a:t>
            </a:r>
            <a:endParaRPr lang="en-US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AND X1, X0,X1</a:t>
            </a:r>
            <a:endParaRPr lang="en-US" sz="2800" dirty="0">
              <a:latin typeface="+mn-lt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3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1,2,4</a:t>
            </a:r>
          </a:p>
        </p:txBody>
      </p:sp>
    </p:spTree>
    <p:extLst>
      <p:ext uri="{BB962C8B-B14F-4D97-AF65-F5344CB8AC3E}">
        <p14:creationId xmlns:p14="http://schemas.microsoft.com/office/powerpoint/2010/main" val="291286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4) What localities are exhibited in the following C loop?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for (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=0;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&lt;100;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++)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	a[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] += b[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];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Structural locality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Temporal locality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Spatial locality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Special locality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9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2,3</a:t>
            </a:r>
          </a:p>
        </p:txBody>
      </p:sp>
    </p:spTree>
    <p:extLst>
      <p:ext uri="{BB962C8B-B14F-4D97-AF65-F5344CB8AC3E}">
        <p14:creationId xmlns:p14="http://schemas.microsoft.com/office/powerpoint/2010/main" val="75399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5) What does the 32 mean in RV32I?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  <a:ea typeface="Arial Unicode MS" panose="020B0604020202020204" pitchFamily="34" charset="-128"/>
              </a:rPr>
              <a:t>The general purpose register is 32-bit wide</a:t>
            </a:r>
            <a:endParaRPr lang="en-US" sz="2800" dirty="0">
              <a:solidFill>
                <a:prstClr val="black"/>
              </a:solidFill>
              <a:latin typeface="+mn-lt"/>
              <a:ea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+mn-lt"/>
                <a:ea typeface="Arial Unicode MS" panose="020B0604020202020204" pitchFamily="34" charset="-128"/>
              </a:rPr>
              <a:t>There are 32 general-purpose registers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+mn-lt"/>
                <a:ea typeface="Arial Unicode MS" panose="020B0604020202020204" pitchFamily="34" charset="-128"/>
              </a:rPr>
              <a:t>The instructions are 32-bit long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+mn-lt"/>
                <a:ea typeface="Arial Unicode MS" panose="020B0604020202020204" pitchFamily="34" charset="-128"/>
              </a:rPr>
              <a:t>The addressability is 32-bit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+mn-lt"/>
                <a:ea typeface="Arial Unicode MS" panose="020B0604020202020204" pitchFamily="34" charset="-128"/>
              </a:rPr>
              <a:t>The core ISA has 32 instructions</a:t>
            </a:r>
            <a:endParaRPr lang="en-US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50" y="5562601"/>
            <a:ext cx="16898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1,4</a:t>
            </a:r>
          </a:p>
        </p:txBody>
      </p:sp>
    </p:spTree>
    <p:extLst>
      <p:ext uri="{BB962C8B-B14F-4D97-AF65-F5344CB8AC3E}">
        <p14:creationId xmlns:p14="http://schemas.microsoft.com/office/powerpoint/2010/main" val="305331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6) Which of the following instructions belong to RV64I instead of RV32I?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  <a:ea typeface="Arial Unicode MS" panose="020B0604020202020204" pitchFamily="34" charset="-128"/>
              </a:rPr>
              <a:t>LD X1, 0(X2)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  <a:ea typeface="Arial Unicode MS" panose="020B0604020202020204" pitchFamily="34" charset="-128"/>
              </a:rPr>
              <a:t>LWU X1, 0(X2)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  <a:ea typeface="Arial Unicode MS" panose="020B0604020202020204" pitchFamily="34" charset="-128"/>
              </a:rPr>
              <a:t>SLLI  X5, X6, 48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  <a:ea typeface="Arial Unicode MS" panose="020B0604020202020204" pitchFamily="34" charset="-128"/>
              </a:rPr>
              <a:t>SLL   X5, X6, X7</a:t>
            </a:r>
            <a:endParaRPr lang="en-US" sz="2800" dirty="0">
              <a:solidFill>
                <a:prstClr val="black"/>
              </a:solidFill>
              <a:latin typeface="+mn-lt"/>
              <a:ea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4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</a:t>
            </a:r>
          </a:p>
        </p:txBody>
      </p:sp>
    </p:spTree>
    <p:extLst>
      <p:ext uri="{BB962C8B-B14F-4D97-AF65-F5344CB8AC3E}">
        <p14:creationId xmlns:p14="http://schemas.microsoft.com/office/powerpoint/2010/main" val="3693223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7) Which of the following are considered Micro-architecture instead of Architecture?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Out-of-order instruction execution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RISC-V ISA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Fast integer multiplier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Intel x86 family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Microprocessors with L1/L2/L3 on-chip caches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4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1,3,5</a:t>
            </a:r>
          </a:p>
        </p:txBody>
      </p:sp>
    </p:spTree>
    <p:extLst>
      <p:ext uri="{BB962C8B-B14F-4D97-AF65-F5344CB8AC3E}">
        <p14:creationId xmlns:p14="http://schemas.microsoft.com/office/powerpoint/2010/main" val="332505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8) Which instructions can be inferred as procedure return instructions?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  <a:ea typeface="Arial Unicode MS" panose="020B0604020202020204" pitchFamily="34" charset="-128"/>
              </a:rPr>
              <a:t>JAL      X1, 1020 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  <a:ea typeface="Arial Unicode MS" panose="020B0604020202020204" pitchFamily="34" charset="-128"/>
              </a:rPr>
              <a:t>JALR    X0, 0(X1)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  <a:ea typeface="Arial Unicode MS" panose="020B0604020202020204" pitchFamily="34" charset="-128"/>
              </a:rPr>
              <a:t>JALR    X3, 0(X3)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  <a:ea typeface="Arial Unicode MS" panose="020B0604020202020204" pitchFamily="34" charset="-128"/>
              </a:rPr>
              <a:t>JALR    X1, 1024(X1)</a:t>
            </a:r>
            <a:endParaRPr lang="en-US" sz="2800" dirty="0">
              <a:solidFill>
                <a:prstClr val="black"/>
              </a:solidFill>
              <a:latin typeface="+mn-lt"/>
              <a:ea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5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</a:t>
            </a:r>
          </a:p>
        </p:txBody>
      </p:sp>
    </p:spTree>
    <p:extLst>
      <p:ext uri="{BB962C8B-B14F-4D97-AF65-F5344CB8AC3E}">
        <p14:creationId xmlns:p14="http://schemas.microsoft.com/office/powerpoint/2010/main" val="145800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9) Which instructions can be inferred as a procedure call instruction?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  <a:ea typeface="Arial Unicode MS" panose="020B0604020202020204" pitchFamily="34" charset="-128"/>
              </a:rPr>
              <a:t>JAL      X1, 1020 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  <a:ea typeface="Arial Unicode MS" panose="020B0604020202020204" pitchFamily="34" charset="-128"/>
              </a:rPr>
              <a:t>JALR    X0, 0(X1)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  <a:ea typeface="Arial Unicode MS" panose="020B0604020202020204" pitchFamily="34" charset="-128"/>
              </a:rPr>
              <a:t>JAL       X0, 1020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  <a:ea typeface="Arial Unicode MS" panose="020B0604020202020204" pitchFamily="34" charset="-128"/>
              </a:rPr>
              <a:t>JALR    X1, 4(X1)</a:t>
            </a:r>
            <a:endParaRPr lang="en-US" sz="2800" dirty="0">
              <a:solidFill>
                <a:prstClr val="black"/>
              </a:solidFill>
              <a:latin typeface="+mn-lt"/>
              <a:ea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5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</a:t>
            </a:r>
          </a:p>
        </p:txBody>
      </p:sp>
    </p:spTree>
    <p:extLst>
      <p:ext uri="{BB962C8B-B14F-4D97-AF65-F5344CB8AC3E}">
        <p14:creationId xmlns:p14="http://schemas.microsoft.com/office/powerpoint/2010/main" val="341418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10) RV32I ISA is 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One operand instruction format 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lang="en-US" altLang="zh-TW" sz="28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Two</a:t>
            </a: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operand instruction format 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lang="en-US" altLang="zh-TW" sz="28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Three</a:t>
            </a: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operand instruction format 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lang="en-US" altLang="zh-TW" sz="28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Four</a:t>
            </a: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operand instruction format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None/>
              <a:tabLst/>
              <a:defRPr/>
            </a:pPr>
            <a:endParaRPr kumimoji="1" lang="en-US" altLang="zh-TW" sz="28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5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376135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11) Which of the following instructions are I-type instructions?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 Unicode MS" panose="020B0604020202020204" pitchFamily="34" charset="-128"/>
                <a:cs typeface="+mn-cs"/>
              </a:rPr>
              <a:t>JAL      X1, 1020 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 Unicode MS" panose="020B0604020202020204" pitchFamily="34" charset="-128"/>
                <a:cs typeface="+mn-cs"/>
              </a:rPr>
              <a:t>JALR    X0, 0(X2)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 Unicode MS" panose="020B0604020202020204" pitchFamily="34" charset="-128"/>
                <a:cs typeface="+mn-cs"/>
              </a:rPr>
              <a:t>LW	X1, 0(X2) 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  <a:ea typeface="Arial Unicode MS" panose="020B0604020202020204" pitchFamily="34" charset="-128"/>
              </a:rPr>
              <a:t>SW	X1, 0(X2) 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altLang="zh-TW" sz="2800" dirty="0">
                <a:solidFill>
                  <a:prstClr val="black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SLLI	X1, X1, 4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2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2,3,5</a:t>
            </a:r>
          </a:p>
        </p:txBody>
      </p:sp>
    </p:spTree>
    <p:extLst>
      <p:ext uri="{BB962C8B-B14F-4D97-AF65-F5344CB8AC3E}">
        <p14:creationId xmlns:p14="http://schemas.microsoft.com/office/powerpoint/2010/main" val="357438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12) What is the range a branch (e.g.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beq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instruction in RV32I can reach from the current PC (program counter)?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</a:rPr>
              <a:t>±512KB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±1KB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±2KB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±4KB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endParaRPr kumimoji="1" lang="en-US" altLang="zh-TW" sz="28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</a:t>
            </a:r>
          </a:p>
        </p:txBody>
      </p:sp>
    </p:spTree>
    <p:extLst>
      <p:ext uri="{BB962C8B-B14F-4D97-AF65-F5344CB8AC3E}">
        <p14:creationId xmlns:p14="http://schemas.microsoft.com/office/powerpoint/2010/main" val="29438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13) What is the range a Jump (JAL) instruction in RV32I can reach from the current PC (program counter)?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</a:rPr>
              <a:t>±512KB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±1MB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±2MB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±4MB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endParaRPr kumimoji="1" lang="en-US" altLang="zh-TW" sz="28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</a:t>
            </a:r>
          </a:p>
        </p:txBody>
      </p:sp>
    </p:spTree>
    <p:extLst>
      <p:ext uri="{BB962C8B-B14F-4D97-AF65-F5344CB8AC3E}">
        <p14:creationId xmlns:p14="http://schemas.microsoft.com/office/powerpoint/2010/main" val="2317042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14) What range can an Indirect Jump (JALR) instruction in RV32I reach?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</a:rPr>
              <a:t>4K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B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</a:rPr>
              <a:t>1MB</a:t>
            </a:r>
            <a:endParaRPr kumimoji="1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標楷體" pitchFamily="65" charset="-120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4MB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</a:rPr>
              <a:t>4GB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None/>
              <a:tabLst/>
              <a:defRPr/>
            </a:pPr>
            <a:endParaRPr kumimoji="1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標楷體" pitchFamily="65" charset="-120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endParaRPr kumimoji="1" lang="en-US" altLang="zh-TW" sz="28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</a:t>
            </a:r>
          </a:p>
        </p:txBody>
      </p:sp>
    </p:spTree>
    <p:extLst>
      <p:ext uri="{BB962C8B-B14F-4D97-AF65-F5344CB8AC3E}">
        <p14:creationId xmlns:p14="http://schemas.microsoft.com/office/powerpoint/2010/main" val="157340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7775" y="334483"/>
            <a:ext cx="1000125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15) In the following C statements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28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{ int </a:t>
            </a:r>
            <a:r>
              <a:rPr lang="en-US" sz="28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x,y</a:t>
            </a:r>
            <a:r>
              <a:rPr lang="en-US" sz="28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;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114318" marR="0" indent="0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unsigned int </a:t>
            </a:r>
            <a:r>
              <a:rPr lang="en-US" sz="28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c,d</a:t>
            </a:r>
            <a:r>
              <a:rPr lang="en-US" sz="28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;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indent="0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x = y &gt;&gt; 8; 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indent="0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c = d &gt;&gt; 4; …}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What RV32I instruction should be generated by the compiler?</a:t>
            </a:r>
          </a:p>
          <a:p>
            <a:pPr marL="0" marR="0" lvl="0" indent="0" fontAlgn="base">
              <a:lnSpc>
                <a:spcPct val="107000"/>
              </a:lnSpc>
              <a:spcBef>
                <a:spcPts val="895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+mn-lt"/>
                <a:ea typeface="PMingLiU" panose="02020500000000000000" pitchFamily="18" charset="-120"/>
                <a:cs typeface="Times New Roman" panose="02020603050405020304" pitchFamily="18" charset="0"/>
              </a:rPr>
              <a:t>1) SRLI for d &gt;&gt; 4</a:t>
            </a:r>
            <a:endParaRPr lang="en-US" sz="2400" dirty="0">
              <a:effectLst/>
              <a:latin typeface="+mn-lt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fontAlgn="base">
              <a:lnSpc>
                <a:spcPct val="107000"/>
              </a:lnSpc>
              <a:spcBef>
                <a:spcPts val="895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+mn-lt"/>
                <a:ea typeface="PMingLiU" panose="02020500000000000000" pitchFamily="18" charset="-120"/>
                <a:cs typeface="Times New Roman" panose="02020603050405020304" pitchFamily="18" charset="0"/>
              </a:rPr>
              <a:t>2) SRA for y &gt;&gt; 8</a:t>
            </a:r>
            <a:endParaRPr lang="en-US" sz="2400" dirty="0">
              <a:effectLst/>
              <a:latin typeface="+mn-lt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fontAlgn="base">
              <a:lnSpc>
                <a:spcPct val="107000"/>
              </a:lnSpc>
              <a:spcBef>
                <a:spcPts val="895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+mn-lt"/>
                <a:ea typeface="PMingLiU" panose="02020500000000000000" pitchFamily="18" charset="-120"/>
                <a:cs typeface="Times New Roman" panose="02020603050405020304" pitchFamily="18" charset="0"/>
              </a:rPr>
              <a:t>3) SRAI for y &gt;&gt; 8</a:t>
            </a:r>
            <a:endParaRPr lang="en-US" sz="2400" dirty="0">
              <a:effectLst/>
              <a:latin typeface="+mn-lt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fontAlgn="base">
              <a:lnSpc>
                <a:spcPct val="107000"/>
              </a:lnSpc>
              <a:spcBef>
                <a:spcPts val="895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+mn-lt"/>
                <a:ea typeface="PMingLiU" panose="02020500000000000000" pitchFamily="18" charset="-120"/>
                <a:cs typeface="Times New Roman" panose="02020603050405020304" pitchFamily="18" charset="0"/>
              </a:rPr>
              <a:t>4) SLLI for d &gt;&gt; 4</a:t>
            </a:r>
            <a:endParaRPr lang="en-US" sz="2400" dirty="0">
              <a:effectLst/>
              <a:latin typeface="+mn-lt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804" y="5562601"/>
            <a:ext cx="18437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</a:t>
            </a: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1, 3</a:t>
            </a:r>
          </a:p>
        </p:txBody>
      </p:sp>
    </p:spTree>
    <p:extLst>
      <p:ext uri="{BB962C8B-B14F-4D97-AF65-F5344CB8AC3E}">
        <p14:creationId xmlns:p14="http://schemas.microsoft.com/office/powerpoint/2010/main" val="2319063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16) Which of the following are pseudo instructions in RV32I ? </a:t>
            </a:r>
            <a:r>
              <a:rPr lang="en-US" altLang="zh-TW" sz="28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TW" sz="2400" i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Pseudo instructions are </a:t>
            </a:r>
            <a:r>
              <a:rPr lang="en-US" sz="2400" b="0" i="1" dirty="0">
                <a:solidFill>
                  <a:srgbClr val="37415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not actual hardware instructions but are provided by assemblers to make programming easier</a:t>
            </a:r>
            <a:r>
              <a:rPr lang="en-US" sz="2400" b="0" i="0" dirty="0">
                <a:solidFill>
                  <a:srgbClr val="37415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Li X1, 0x01ABCDEF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Addi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X2, X3, 100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MV X2,X3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J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loop_end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Call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funct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None/>
              <a:tabLst/>
              <a:defRPr/>
            </a:pPr>
            <a:endParaRPr kumimoji="1" lang="en-US" altLang="zh-TW" sz="28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8916" y="5562601"/>
            <a:ext cx="21515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1,3,4,5</a:t>
            </a:r>
          </a:p>
        </p:txBody>
      </p:sp>
    </p:spTree>
    <p:extLst>
      <p:ext uri="{BB962C8B-B14F-4D97-AF65-F5344CB8AC3E}">
        <p14:creationId xmlns:p14="http://schemas.microsoft.com/office/powerpoint/2010/main" val="22657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36307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17) In the following C function, which of the following store instructions should be used to access A[10]?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US" altLang="zh-TW" sz="24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 f (int </a:t>
            </a:r>
            <a:r>
              <a:rPr lang="en-US" altLang="zh-TW" sz="24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idx</a:t>
            </a:r>
            <a:r>
              <a:rPr lang="en-US" altLang="zh-TW" sz="24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b)</a:t>
            </a:r>
          </a:p>
          <a:p>
            <a:pPr marL="0" indent="0">
              <a:buNone/>
              <a:defRPr/>
            </a:pPr>
            <a:r>
              <a:rPr lang="en-US" altLang="zh-TW" sz="24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{</a:t>
            </a:r>
          </a:p>
          <a:p>
            <a:pPr marL="0" indent="0">
              <a:buNone/>
              <a:defRPr/>
            </a:pPr>
            <a:r>
              <a:rPr lang="en-US" altLang="zh-TW" sz="24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    int A[100];</a:t>
            </a:r>
          </a:p>
          <a:p>
            <a:pPr marL="0" indent="0">
              <a:buNone/>
              <a:defRPr/>
            </a:pPr>
            <a:r>
              <a:rPr lang="en-US" altLang="zh-TW" sz="24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     ……. </a:t>
            </a:r>
          </a:p>
          <a:p>
            <a:pPr marL="0" indent="0">
              <a:buNone/>
              <a:defRPr/>
            </a:pPr>
            <a:r>
              <a:rPr lang="en-US" altLang="zh-TW" sz="24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      A[10] = b; };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SW a1, 40(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fp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SW a1, -360(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fp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SW a0, -360(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fp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SB  a1, -360(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fp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SW  a1, -40(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fp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None/>
              <a:tabLst/>
              <a:defRPr/>
            </a:pPr>
            <a:endParaRPr kumimoji="1" lang="en-US" altLang="zh-TW" sz="28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</a:t>
            </a:r>
          </a:p>
        </p:txBody>
      </p:sp>
    </p:spTree>
    <p:extLst>
      <p:ext uri="{BB962C8B-B14F-4D97-AF65-F5344CB8AC3E}">
        <p14:creationId xmlns:p14="http://schemas.microsoft.com/office/powerpoint/2010/main" val="149169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982201" cy="5780567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18) </a:t>
            </a: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One word (32b) in the memory has the following bits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0x</a:t>
            </a: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00000033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Which is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0b</a:t>
            </a: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0000 0000 0000 0000 0000 0000 0011 0011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What could it be?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If it is an RV32I instruction, it is Add X0,X0,X0 (i.e. NOP)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If it is a signed integer, it is 51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If it is a string of ASCII characters, it is “3”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If it is an unsigned integer, it is 51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endParaRPr kumimoji="1" lang="en-US" altLang="zh-TW" sz="28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8916" y="5562601"/>
            <a:ext cx="21515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1,2,3,4</a:t>
            </a:r>
          </a:p>
        </p:txBody>
      </p:sp>
    </p:spTree>
    <p:extLst>
      <p:ext uri="{BB962C8B-B14F-4D97-AF65-F5344CB8AC3E}">
        <p14:creationId xmlns:p14="http://schemas.microsoft.com/office/powerpoint/2010/main" val="25109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411511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19) Which of the following instructions in RV32I uses 12-bit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immediates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?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Load instructions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Store instructions 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Branch instructions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JALR instructions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AUIPC instructions</a:t>
            </a: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endParaRPr kumimoji="1" lang="en-US" altLang="zh-TW" sz="28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8916" y="5562601"/>
            <a:ext cx="21515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1,2,3,4</a:t>
            </a:r>
          </a:p>
        </p:txBody>
      </p:sp>
    </p:spTree>
    <p:extLst>
      <p:ext uri="{BB962C8B-B14F-4D97-AF65-F5344CB8AC3E}">
        <p14:creationId xmlns:p14="http://schemas.microsoft.com/office/powerpoint/2010/main" val="320953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411511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20) Which of the following RV instructions do not have a destination operand (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rd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Branch instructions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Unconditional jump instructions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Store instructions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Privileged Instructions (accessing CSR)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endParaRPr kumimoji="1" lang="en-US" altLang="zh-TW" sz="28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8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</a:t>
            </a:r>
          </a:p>
        </p:txBody>
      </p:sp>
    </p:spTree>
    <p:extLst>
      <p:ext uri="{BB962C8B-B14F-4D97-AF65-F5344CB8AC3E}">
        <p14:creationId xmlns:p14="http://schemas.microsoft.com/office/powerpoint/2010/main" val="3237051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21) Which of the following statements about RISC vs CISC are true?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RISC is optimized for processor speed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lang="en-US" altLang="zh-TW" sz="28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CISC is optimized for compact code size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RISC is optimized for assembly programmers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CISC is optimized </a:t>
            </a:r>
            <a:r>
              <a:rPr lang="en-US" altLang="zh-TW" sz="28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for compiler designers</a:t>
            </a:r>
            <a:endParaRPr kumimoji="1" lang="en-US" altLang="zh-TW" sz="28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9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</a:t>
            </a:r>
          </a:p>
        </p:txBody>
      </p:sp>
    </p:spTree>
    <p:extLst>
      <p:ext uri="{BB962C8B-B14F-4D97-AF65-F5344CB8AC3E}">
        <p14:creationId xmlns:p14="http://schemas.microsoft.com/office/powerpoint/2010/main" val="18228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9149" y="467833"/>
            <a:ext cx="10991851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22) Some programming languages (e.g. Java, Rust, Python, …) enforce bounds checking on array indexing.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So, for int A[100],  we need to check if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idx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in A[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idx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] is positive and less than 100. Which of the following RV32I instructions can do the job, assuming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idx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 allocated to register X5 and 100 is in X6?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lang="en-US" altLang="zh-TW" sz="24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BGT X0, X5, </a:t>
            </a:r>
            <a:r>
              <a:rPr lang="en-US" altLang="zh-TW" sz="2400" dirty="0" err="1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out_of_bound</a:t>
            </a:r>
            <a:endParaRPr lang="en-US" altLang="zh-TW" sz="2400" dirty="0">
              <a:solidFill>
                <a:srgbClr val="1F497D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None/>
              <a:tabLst/>
              <a:defRPr/>
            </a:pPr>
            <a:r>
              <a:rPr lang="en-US" altLang="zh-TW" sz="24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BLE X6, X5,  </a:t>
            </a:r>
            <a:r>
              <a:rPr lang="en-US" altLang="zh-TW" sz="2400" dirty="0" err="1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out_of_bound</a:t>
            </a:r>
            <a:endParaRPr lang="en-US" altLang="zh-TW" sz="2400" dirty="0">
              <a:solidFill>
                <a:srgbClr val="1F497D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AutoNum type="arabicParenR" startAt="2"/>
              <a:tabLst/>
              <a:defRPr/>
            </a:pPr>
            <a:r>
              <a:rPr lang="en-US" altLang="zh-TW" sz="24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BLT X5,X0, </a:t>
            </a:r>
            <a:r>
              <a:rPr lang="en-US" altLang="zh-TW" sz="2400" dirty="0" err="1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out_of_bound</a:t>
            </a:r>
            <a:endParaRPr lang="en-US" altLang="zh-TW" sz="2400" dirty="0">
              <a:solidFill>
                <a:srgbClr val="1F497D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None/>
              <a:tabLst/>
              <a:defRPr/>
            </a:pPr>
            <a:r>
              <a:rPr lang="en-US" altLang="zh-TW" sz="24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BGE X5, X6, </a:t>
            </a:r>
            <a:r>
              <a:rPr lang="en-US" altLang="zh-TW" sz="2400" dirty="0" err="1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out_of_bound</a:t>
            </a:r>
            <a:endParaRPr lang="en-US" altLang="zh-TW" sz="2400" dirty="0">
              <a:solidFill>
                <a:srgbClr val="1F497D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None/>
              <a:tabLst/>
              <a:defRPr/>
            </a:pPr>
            <a:r>
              <a:rPr lang="en-US" altLang="zh-TW" sz="24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3)   BGEU X5, X6, </a:t>
            </a:r>
            <a:r>
              <a:rPr lang="en-US" altLang="zh-TW" sz="2400" dirty="0" err="1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out_of_bound</a:t>
            </a:r>
            <a:endParaRPr lang="en-US" altLang="zh-TW" sz="2400" dirty="0">
              <a:solidFill>
                <a:srgbClr val="1F497D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None/>
              <a:tabLst/>
              <a:defRPr/>
            </a:pPr>
            <a:r>
              <a:rPr lang="en-US" altLang="zh-TW" sz="24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4)   BLEU X6,X5, </a:t>
            </a:r>
            <a:r>
              <a:rPr lang="en-US" altLang="zh-TW" sz="2400" dirty="0" err="1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out_of_bound</a:t>
            </a:r>
            <a:endParaRPr lang="en-US" altLang="zh-TW" sz="2400" dirty="0">
              <a:solidFill>
                <a:srgbClr val="1F497D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8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2,3</a:t>
            </a:r>
          </a:p>
        </p:txBody>
      </p:sp>
    </p:spTree>
    <p:extLst>
      <p:ext uri="{BB962C8B-B14F-4D97-AF65-F5344CB8AC3E}">
        <p14:creationId xmlns:p14="http://schemas.microsoft.com/office/powerpoint/2010/main" val="116345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9149" y="467833"/>
            <a:ext cx="10991851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23) In RV32I, what registers </a:t>
            </a:r>
            <a:r>
              <a:rPr lang="en-US" altLang="zh-TW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leaf routine 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should try to utilize based on the calling convention?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Register a0-a7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Register t0-t6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Register s0-s11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Register X28-X31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Register X18-X27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1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1,2,4</a:t>
            </a:r>
          </a:p>
        </p:txBody>
      </p:sp>
    </p:spTree>
    <p:extLst>
      <p:ext uri="{BB962C8B-B14F-4D97-AF65-F5344CB8AC3E}">
        <p14:creationId xmlns:p14="http://schemas.microsoft.com/office/powerpoint/2010/main" val="138881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9149" y="467833"/>
            <a:ext cx="10991851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24) What are the </a:t>
            </a:r>
            <a:r>
              <a:rPr lang="en-US" altLang="zh-TW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disadvantages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if the RV architecture includes 1024 general-purpose registers?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Register access time may take longer, thus increasing the clock cycle time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Procedure call overhead will increase since too many registers to save and restore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Context switching cost will increase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Instruction length will increase, 32 bit is no longer sufficient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Compiler is more difficult to manage so many registers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8915" y="5562601"/>
            <a:ext cx="21515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1,2,3,4</a:t>
            </a:r>
          </a:p>
        </p:txBody>
      </p:sp>
    </p:spTree>
    <p:extLst>
      <p:ext uri="{BB962C8B-B14F-4D97-AF65-F5344CB8AC3E}">
        <p14:creationId xmlns:p14="http://schemas.microsoft.com/office/powerpoint/2010/main" val="718054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9149" y="467833"/>
            <a:ext cx="10991851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25) Which data types are unlikely to be allocated to registers?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Unsigned integers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Multi-dimensional arrays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Strings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Structures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Floating point number variables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1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2,3,4</a:t>
            </a:r>
          </a:p>
        </p:txBody>
      </p:sp>
    </p:spTree>
    <p:extLst>
      <p:ext uri="{BB962C8B-B14F-4D97-AF65-F5344CB8AC3E}">
        <p14:creationId xmlns:p14="http://schemas.microsoft.com/office/powerpoint/2010/main" val="394536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15018</TotalTime>
  <Words>1320</Words>
  <Application>Microsoft Office PowerPoint</Application>
  <PresentationFormat>Widescreen</PresentationFormat>
  <Paragraphs>255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Arial Unicode MS</vt:lpstr>
      <vt:lpstr>MS Sans Serif</vt:lpstr>
      <vt:lpstr>华文楷体</vt:lpstr>
      <vt:lpstr>Arial</vt:lpstr>
      <vt:lpstr>Calibri</vt:lpstr>
      <vt:lpstr>Calibri Light</vt:lpstr>
      <vt:lpstr>Cambria Math</vt:lpstr>
      <vt:lpstr>Times New Roman</vt:lpstr>
      <vt:lpstr>Wingdings</vt:lpstr>
      <vt:lpstr>NTHU UniCloud</vt:lpstr>
      <vt:lpstr>自訂設計</vt:lpstr>
      <vt:lpstr>CSC3050 – Computer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Prof. HSU Wei-Chung (SDS)</cp:lastModifiedBy>
  <cp:revision>168</cp:revision>
  <dcterms:created xsi:type="dcterms:W3CDTF">2020-07-15T11:13:39Z</dcterms:created>
  <dcterms:modified xsi:type="dcterms:W3CDTF">2025-02-24T06:29:52Z</dcterms:modified>
</cp:coreProperties>
</file>