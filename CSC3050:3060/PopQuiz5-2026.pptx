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27"/>
  </p:notesMasterIdLst>
  <p:sldIdLst>
    <p:sldId id="256" r:id="rId3"/>
    <p:sldId id="287" r:id="rId4"/>
    <p:sldId id="312" r:id="rId5"/>
    <p:sldId id="325" r:id="rId6"/>
    <p:sldId id="323" r:id="rId7"/>
    <p:sldId id="326" r:id="rId8"/>
    <p:sldId id="327" r:id="rId9"/>
    <p:sldId id="328" r:id="rId10"/>
    <p:sldId id="329" r:id="rId11"/>
    <p:sldId id="330" r:id="rId12"/>
    <p:sldId id="321" r:id="rId13"/>
    <p:sldId id="324" r:id="rId14"/>
    <p:sldId id="317" r:id="rId15"/>
    <p:sldId id="331" r:id="rId16"/>
    <p:sldId id="332" r:id="rId17"/>
    <p:sldId id="333" r:id="rId18"/>
    <p:sldId id="338" r:id="rId19"/>
    <p:sldId id="334" r:id="rId20"/>
    <p:sldId id="335" r:id="rId21"/>
    <p:sldId id="336" r:id="rId22"/>
    <p:sldId id="337" r:id="rId23"/>
    <p:sldId id="339" r:id="rId24"/>
    <p:sldId id="340" r:id="rId25"/>
    <p:sldId id="341" r:id="rId2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81" autoAdjust="0"/>
    <p:restoredTop sz="94660"/>
  </p:normalViewPr>
  <p:slideViewPr>
    <p:cSldViewPr snapToGrid="0">
      <p:cViewPr varScale="1">
        <p:scale>
          <a:sx n="98" d="100"/>
          <a:sy n="98" d="100"/>
        </p:scale>
        <p:origin x="69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2026/4/29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RISC-V has no opcode as 0000000 (illegal instruction)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6592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RISC-V has no opcode as 0000000 (illegal instruction)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4372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RISC-V has no opcode as 0000000 (illegal instruction)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7990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RISC-V has no opcode as 0000000 (illegal instruction)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9427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RISC-V has no opcode as 0000000 (illegal instruction)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9554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RISC-V has no opcode as 0000000 (illegal instruction)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8071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RISC-V has no opcode as 0000000 (illegal instruction)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55430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8195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876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43481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9656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28181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84824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57197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8926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06317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77884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46668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1559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7866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33324"/>
            <a:ext cx="10363200" cy="1470025"/>
          </a:xfrm>
        </p:spPr>
        <p:txBody>
          <a:bodyPr/>
          <a:lstStyle/>
          <a:p>
            <a:pPr algn="ctr"/>
            <a:r>
              <a:rPr lang="en-US" altLang="zh-TW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CSC3060 – Computer Systems</a:t>
            </a:r>
            <a:endParaRPr lang="zh-TW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1509" y="3303597"/>
            <a:ext cx="9458632" cy="947390"/>
          </a:xfrm>
        </p:spPr>
        <p:txBody>
          <a:bodyPr/>
          <a:lstStyle/>
          <a:p>
            <a:r>
              <a:rPr lang="en-US" altLang="zh-TW" sz="4800" dirty="0"/>
              <a:t>Review Pop Quiz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E74415-30E6-4BE5-9E20-77352570E8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36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809" y="243699"/>
            <a:ext cx="10958208" cy="5780567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2B3D363-C500-4159-9D2E-8E70FF01CF70}"/>
              </a:ext>
            </a:extLst>
          </p:cNvPr>
          <p:cNvSpPr txBox="1">
            <a:spLocks/>
          </p:cNvSpPr>
          <p:nvPr/>
        </p:nvSpPr>
        <p:spPr bwMode="auto">
          <a:xfrm>
            <a:off x="914400" y="1733324"/>
            <a:ext cx="10668000" cy="269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4571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3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53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70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ctr"/>
            <a:r>
              <a:rPr lang="en-US" altLang="zh-TW" sz="60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Section I</a:t>
            </a:r>
          </a:p>
          <a:p>
            <a:pPr algn="ctr"/>
            <a:r>
              <a:rPr lang="en-US" altLang="zh-TW" sz="5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(single answer)</a:t>
            </a:r>
          </a:p>
          <a:p>
            <a:pPr algn="ctr"/>
            <a:r>
              <a:rPr lang="en-US" altLang="zh-TW" sz="3200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students who have not received &gt;2 </a:t>
            </a:r>
            <a:r>
              <a:rPr lang="en-US" altLang="zh-TW" sz="3200" i="1" kern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popquiz</a:t>
            </a:r>
            <a:r>
              <a:rPr lang="en-US" altLang="zh-TW" sz="3200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points before</a:t>
            </a:r>
            <a:endParaRPr lang="zh-TW" altLang="en-US" sz="3200" i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78703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 Unix/Linux, which of the following is the standard linker? 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sz="2800" b="1" dirty="0" err="1">
                <a:latin typeface="+mn-lt"/>
              </a:rPr>
              <a:t>gcc</a:t>
            </a:r>
            <a:endParaRPr lang="en-US" sz="2800" b="1" dirty="0">
              <a:latin typeface="+mn-lt"/>
            </a:endParaRPr>
          </a:p>
          <a:p>
            <a:pPr marL="514350" indent="-514350">
              <a:buAutoNum type="arabicParenR"/>
              <a:defRPr/>
            </a:pPr>
            <a:r>
              <a:rPr lang="en-US" sz="2800" b="1" dirty="0">
                <a:latin typeface="+mn-lt"/>
              </a:rPr>
              <a:t>ln</a:t>
            </a:r>
          </a:p>
          <a:p>
            <a:pPr marL="514350" indent="-514350">
              <a:buAutoNum type="arabicParenR"/>
              <a:defRPr/>
            </a:pPr>
            <a:r>
              <a:rPr lang="en-US" sz="2800" b="1" dirty="0" err="1">
                <a:latin typeface="+mn-lt"/>
              </a:rPr>
              <a:t>ld</a:t>
            </a:r>
            <a:endParaRPr lang="en-US" sz="2800" b="1" dirty="0">
              <a:latin typeface="+mn-lt"/>
            </a:endParaRPr>
          </a:p>
          <a:p>
            <a:pPr marL="514350" indent="-514350">
              <a:buAutoNum type="arabicParenR"/>
              <a:defRPr/>
            </a:pPr>
            <a:r>
              <a:rPr lang="en-US" sz="2800" b="1" dirty="0" err="1">
                <a:latin typeface="+mn-lt"/>
              </a:rPr>
              <a:t>ll</a:t>
            </a:r>
            <a:endParaRPr lang="en-US" sz="2800" b="1" dirty="0">
              <a:latin typeface="+mn-lt"/>
            </a:endParaRPr>
          </a:p>
          <a:p>
            <a:pPr marL="514350" indent="-514350">
              <a:buAutoNum type="arabicParenR"/>
              <a:defRPr/>
            </a:pPr>
            <a:r>
              <a:rPr lang="en-US" sz="2800" b="1" dirty="0">
                <a:latin typeface="+mn-lt"/>
              </a:rPr>
              <a:t>link</a:t>
            </a:r>
          </a:p>
          <a:p>
            <a:pPr marL="514350" indent="-514350">
              <a:buAutoNum type="arabicParenR"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6" y="5562601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</a:t>
            </a:r>
          </a:p>
        </p:txBody>
      </p:sp>
    </p:spTree>
    <p:extLst>
      <p:ext uri="{BB962C8B-B14F-4D97-AF65-F5344CB8AC3E}">
        <p14:creationId xmlns:p14="http://schemas.microsoft.com/office/powerpoint/2010/main" val="3617230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2) How do you read the detailed information of an ELF file? 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sz="2800" b="1" dirty="0" err="1">
                <a:latin typeface="+mn-lt"/>
              </a:rPr>
              <a:t>objdump</a:t>
            </a:r>
            <a:endParaRPr lang="en-US" sz="2800" b="1" dirty="0">
              <a:latin typeface="+mn-lt"/>
            </a:endParaRPr>
          </a:p>
          <a:p>
            <a:pPr marL="514350" indent="-514350">
              <a:buAutoNum type="arabicParenR"/>
              <a:defRPr/>
            </a:pPr>
            <a:r>
              <a:rPr lang="en-US" sz="2800" b="1" dirty="0" err="1">
                <a:latin typeface="+mn-lt"/>
              </a:rPr>
              <a:t>gdb</a:t>
            </a:r>
            <a:endParaRPr lang="en-US" sz="2800" b="1" dirty="0">
              <a:latin typeface="+mn-lt"/>
            </a:endParaRPr>
          </a:p>
          <a:p>
            <a:pPr marL="514350" indent="-514350">
              <a:buAutoNum type="arabicParenR"/>
              <a:defRPr/>
            </a:pPr>
            <a:r>
              <a:rPr lang="en-US" sz="2800" b="1" dirty="0" err="1">
                <a:latin typeface="+mn-lt"/>
              </a:rPr>
              <a:t>ldd</a:t>
            </a:r>
            <a:endParaRPr lang="en-US" sz="2800" b="1" dirty="0">
              <a:latin typeface="+mn-lt"/>
            </a:endParaRPr>
          </a:p>
          <a:p>
            <a:pPr marL="514350" indent="-514350">
              <a:buAutoNum type="arabicParenR"/>
              <a:defRPr/>
            </a:pPr>
            <a:r>
              <a:rPr lang="en-US" sz="2800" b="1" dirty="0" err="1">
                <a:latin typeface="+mn-lt"/>
              </a:rPr>
              <a:t>readelf</a:t>
            </a:r>
            <a:endParaRPr lang="en-US" sz="2800" b="1" dirty="0">
              <a:latin typeface="+mn-lt"/>
            </a:endParaRPr>
          </a:p>
          <a:p>
            <a:pPr marL="514350" indent="-514350">
              <a:buAutoNum type="arabicParenR"/>
              <a:defRPr/>
            </a:pPr>
            <a:r>
              <a:rPr lang="en-US" sz="2800" b="1" dirty="0">
                <a:latin typeface="+mn-lt"/>
              </a:rPr>
              <a:t>nm</a:t>
            </a:r>
          </a:p>
          <a:p>
            <a:pPr marL="514350" indent="-514350">
              <a:buAutoNum type="arabicParenR"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6" y="5562601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4</a:t>
            </a:r>
          </a:p>
        </p:txBody>
      </p:sp>
    </p:spTree>
    <p:extLst>
      <p:ext uri="{BB962C8B-B14F-4D97-AF65-F5344CB8AC3E}">
        <p14:creationId xmlns:p14="http://schemas.microsoft.com/office/powerpoint/2010/main" val="1712876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3) Which of the following is NOT a job for the linker?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Symbol resolution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Handling libraries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Loading into the memory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Section merging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Relocation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7" y="5562601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</a:t>
            </a:r>
          </a:p>
        </p:txBody>
      </p:sp>
    </p:spTree>
    <p:extLst>
      <p:ext uri="{BB962C8B-B14F-4D97-AF65-F5344CB8AC3E}">
        <p14:creationId xmlns:p14="http://schemas.microsoft.com/office/powerpoint/2010/main" val="1674914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4) If you want to enable cross-module procedure inlining optimization, which of the following flags are required?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-O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-O5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-O3 -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flto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-O3 -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ffast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7" y="5562601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</a:t>
            </a:r>
          </a:p>
        </p:txBody>
      </p:sp>
    </p:spTree>
    <p:extLst>
      <p:ext uri="{BB962C8B-B14F-4D97-AF65-F5344CB8AC3E}">
        <p14:creationId xmlns:p14="http://schemas.microsoft.com/office/powerpoint/2010/main" val="1909009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5) Which of the following optimizations have no primary attempt to improve locality?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Loop unrolling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Loop interchange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Loop fusion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Loop tiling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7" y="5562601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</a:t>
            </a:r>
          </a:p>
        </p:txBody>
      </p:sp>
    </p:spTree>
    <p:extLst>
      <p:ext uri="{BB962C8B-B14F-4D97-AF65-F5344CB8AC3E}">
        <p14:creationId xmlns:p14="http://schemas.microsoft.com/office/powerpoint/2010/main" val="2323260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6) Which of the following compiler optimizations may lead to 1000x speedup?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Procedure inlining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Cascading DCE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Loop unrolling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Register allocation 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Code scheduling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7" y="5562601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</a:t>
            </a:r>
          </a:p>
        </p:txBody>
      </p:sp>
    </p:spTree>
    <p:extLst>
      <p:ext uri="{BB962C8B-B14F-4D97-AF65-F5344CB8AC3E}">
        <p14:creationId xmlns:p14="http://schemas.microsoft.com/office/powerpoint/2010/main" val="1464630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7) Which of the following compiler optimizations have been discussed in class?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Multi-threading on multi-cores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SIMT using CUDA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Vectorization using a compiler auto-vectorization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Loop transformations to improve data locality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7" y="5562601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4</a:t>
            </a:r>
          </a:p>
        </p:txBody>
      </p:sp>
    </p:spTree>
    <p:extLst>
      <p:ext uri="{BB962C8B-B14F-4D97-AF65-F5344CB8AC3E}">
        <p14:creationId xmlns:p14="http://schemas.microsoft.com/office/powerpoint/2010/main" val="3818210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8) To build executables for embedded systems where the memory size is severely limited, which optimization flags should be used?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-O0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Os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-O3 -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flto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-O3 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7" y="5562601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</a:t>
            </a:r>
          </a:p>
        </p:txBody>
      </p:sp>
    </p:spTree>
    <p:extLst>
      <p:ext uri="{BB962C8B-B14F-4D97-AF65-F5344CB8AC3E}">
        <p14:creationId xmlns:p14="http://schemas.microsoft.com/office/powerpoint/2010/main" val="225127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809" y="243699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2B3D363-C500-4159-9D2E-8E70FF01CF70}"/>
              </a:ext>
            </a:extLst>
          </p:cNvPr>
          <p:cNvSpPr txBox="1">
            <a:spLocks/>
          </p:cNvSpPr>
          <p:nvPr/>
        </p:nvSpPr>
        <p:spPr bwMode="auto">
          <a:xfrm>
            <a:off x="914400" y="1733324"/>
            <a:ext cx="103632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4571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3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53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70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ctr"/>
            <a:r>
              <a:rPr lang="en-US" altLang="zh-TW" sz="60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Section II</a:t>
            </a:r>
          </a:p>
          <a:p>
            <a:pPr algn="ctr"/>
            <a:r>
              <a:rPr lang="en-US" altLang="zh-TW" sz="60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(multiple answers)</a:t>
            </a:r>
          </a:p>
          <a:p>
            <a:pPr algn="ctr"/>
            <a:r>
              <a:rPr lang="en-US" altLang="zh-TW" sz="32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 to everyone</a:t>
            </a:r>
            <a:endParaRPr lang="zh-TW" altLang="en-US" sz="3200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16684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99822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9) What are the benefits of linking?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Modularity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Fast compilation/recompilation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Code reuse via libraries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Easier to maintain 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Simpler to build an executable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0527" y="5562601"/>
            <a:ext cx="25683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1,2,3,4</a:t>
            </a:r>
          </a:p>
        </p:txBody>
      </p:sp>
    </p:spTree>
    <p:extLst>
      <p:ext uri="{BB962C8B-B14F-4D97-AF65-F5344CB8AC3E}">
        <p14:creationId xmlns:p14="http://schemas.microsoft.com/office/powerpoint/2010/main" val="4084720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10)What can a linker do?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Can enable Link Time Optimization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Can resolve symbol definition/reference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Can tune a program’s performance via page sizes and alignments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Can relocate global variable references and function calls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411" y="5562601"/>
            <a:ext cx="24785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1,2,3,4</a:t>
            </a:r>
          </a:p>
        </p:txBody>
      </p:sp>
    </p:spTree>
    <p:extLst>
      <p:ext uri="{BB962C8B-B14F-4D97-AF65-F5344CB8AC3E}">
        <p14:creationId xmlns:p14="http://schemas.microsoft.com/office/powerpoint/2010/main" val="1496196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11)What are the three different object files?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Relocatable object file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Static object file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Executable object file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Shared object file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Dynamic object file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0063" y="5562601"/>
            <a:ext cx="22092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1,3,4</a:t>
            </a:r>
          </a:p>
        </p:txBody>
      </p:sp>
    </p:spTree>
    <p:extLst>
      <p:ext uri="{BB962C8B-B14F-4D97-AF65-F5344CB8AC3E}">
        <p14:creationId xmlns:p14="http://schemas.microsoft.com/office/powerpoint/2010/main" val="1851638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12) What are the data structures to support dynamic linking?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GOT (Global Offset Table)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JT (Jump Table)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PLT (Procedure Linkage Table)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SHT (Section Header Table)</a:t>
            </a: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715" y="5562601"/>
            <a:ext cx="19399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1,3</a:t>
            </a:r>
          </a:p>
        </p:txBody>
      </p:sp>
    </p:spTree>
    <p:extLst>
      <p:ext uri="{BB962C8B-B14F-4D97-AF65-F5344CB8AC3E}">
        <p14:creationId xmlns:p14="http://schemas.microsoft.com/office/powerpoint/2010/main" val="34014199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13) What are the major advantages of dynamic linking?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Faster execution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Significant Memory (RAM) Savings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AutoNum type="arabicParenR"/>
              <a:tabLst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Centralized Security Updates and Bug Fixes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Fast build time linking</a:t>
            </a: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0063" y="5562601"/>
            <a:ext cx="22092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2,3,4</a:t>
            </a:r>
          </a:p>
        </p:txBody>
      </p:sp>
    </p:spTree>
    <p:extLst>
      <p:ext uri="{BB962C8B-B14F-4D97-AF65-F5344CB8AC3E}">
        <p14:creationId xmlns:p14="http://schemas.microsoft.com/office/powerpoint/2010/main" val="1272437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14) Where do we keep the PLT, GOT and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GOT.plt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PLT is in the .text section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GOT is in the .data section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GOT.plt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 in the .data section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GOT is in the .text section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0063" y="5562601"/>
            <a:ext cx="22092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</a:t>
            </a:r>
          </a:p>
        </p:txBody>
      </p:sp>
    </p:spTree>
    <p:extLst>
      <p:ext uri="{BB962C8B-B14F-4D97-AF65-F5344CB8AC3E}">
        <p14:creationId xmlns:p14="http://schemas.microsoft.com/office/powerpoint/2010/main" val="1917504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15) What are the symbols in the .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symtab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section?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Global variables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Local variables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External functions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Static local symbols</a:t>
            </a: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0063" y="5562601"/>
            <a:ext cx="22092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1,3,4</a:t>
            </a:r>
          </a:p>
        </p:txBody>
      </p:sp>
    </p:spTree>
    <p:extLst>
      <p:ext uri="{BB962C8B-B14F-4D97-AF65-F5344CB8AC3E}">
        <p14:creationId xmlns:p14="http://schemas.microsoft.com/office/powerpoint/2010/main" val="146490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6034" y="467833"/>
            <a:ext cx="10077855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16) Which of the following symbol resolution rules is incorrect?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Two weak symbols are not allowed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Two strong symbols are not allowed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One strong symbol and multiple weak symbol are allowed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Two weak symbols with different data types are allowed</a:t>
            </a: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8" y="5562601"/>
            <a:ext cx="16706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</a:t>
            </a:r>
          </a:p>
        </p:txBody>
      </p:sp>
    </p:spTree>
    <p:extLst>
      <p:ext uri="{BB962C8B-B14F-4D97-AF65-F5344CB8AC3E}">
        <p14:creationId xmlns:p14="http://schemas.microsoft.com/office/powerpoint/2010/main" val="2945796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6034" y="467833"/>
            <a:ext cx="10077855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17) Which of the following descriptions are incorrect?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.so is for a shared object file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.a is for an archived library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.o is for relocatable object file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.a is a collection of .o files with an index</a:t>
            </a: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9802" y="5562601"/>
            <a:ext cx="24897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NONE</a:t>
            </a:r>
          </a:p>
        </p:txBody>
      </p:sp>
    </p:spTree>
    <p:extLst>
      <p:ext uri="{BB962C8B-B14F-4D97-AF65-F5344CB8AC3E}">
        <p14:creationId xmlns:p14="http://schemas.microsoft.com/office/powerpoint/2010/main" val="3261451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6034" y="467833"/>
            <a:ext cx="10077855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18) How do we know which instructions and which data references require relocation?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1) The compiler or assembler leaves that information in the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rel.text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and .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rel.data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sections.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2) The linker leaves the information in the .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rel.text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and .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rel.data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sections.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3) The loader leaves the information in the .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rel.text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and .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rel.data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sections.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4) The dynamic linker leaves the information in GOT and PLT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 startAt="2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7" y="5562601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Answer:1 </a:t>
            </a:r>
          </a:p>
        </p:txBody>
      </p:sp>
    </p:spTree>
    <p:extLst>
      <p:ext uri="{BB962C8B-B14F-4D97-AF65-F5344CB8AC3E}">
        <p14:creationId xmlns:p14="http://schemas.microsoft.com/office/powerpoint/2010/main" val="1619767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6034" y="467833"/>
            <a:ext cx="10077855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19)Which of the following procedures are good candidates for inlining?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Small procedures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Procedures with multiple constant arguments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Recursive procedures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Procedures with many call sites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Procedures that are called only once in a loop</a:t>
            </a:r>
          </a:p>
          <a:p>
            <a:pPr marL="514350" indent="-514350">
              <a:buAutoNum type="arabicParenR" startAt="2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0063" y="5562601"/>
            <a:ext cx="22092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Answer:1,2,5 </a:t>
            </a:r>
          </a:p>
        </p:txBody>
      </p:sp>
    </p:spTree>
    <p:extLst>
      <p:ext uri="{BB962C8B-B14F-4D97-AF65-F5344CB8AC3E}">
        <p14:creationId xmlns:p14="http://schemas.microsoft.com/office/powerpoint/2010/main" val="31287912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6034" y="467833"/>
            <a:ext cx="10077855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20) Two parameters *a and *b are used frequently, and they are not pointing to the same object. The compiler did not allocate them to registers. What can you do?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Turn on –O3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Change from </a:t>
            </a:r>
            <a:r>
              <a:rPr lang="en-US" altLang="zh-TW" sz="2800" b="1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gcc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to </a:t>
            </a:r>
            <a:r>
              <a:rPr lang="en-US" altLang="zh-TW" sz="2800" b="1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clang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Use restricted pointers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Allocate *a and *b to local variables manually</a:t>
            </a: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 startAt="2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716" y="5562601"/>
            <a:ext cx="19399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Answer:3,4 </a:t>
            </a:r>
          </a:p>
        </p:txBody>
      </p:sp>
    </p:spTree>
    <p:extLst>
      <p:ext uri="{BB962C8B-B14F-4D97-AF65-F5344CB8AC3E}">
        <p14:creationId xmlns:p14="http://schemas.microsoft.com/office/powerpoint/2010/main" val="1287919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6034" y="467833"/>
            <a:ext cx="10077855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21) For the expressions (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a+b+c+d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 and (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a+d+b+c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), we may consider them as a CSE (Common Sub-Expression) if the data type is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Long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long</a:t>
            </a: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Float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Double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char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 startAt="2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716" y="5562601"/>
            <a:ext cx="19399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Answer:1,4 </a:t>
            </a:r>
          </a:p>
        </p:txBody>
      </p:sp>
    </p:spTree>
    <p:extLst>
      <p:ext uri="{BB962C8B-B14F-4D97-AF65-F5344CB8AC3E}">
        <p14:creationId xmlns:p14="http://schemas.microsoft.com/office/powerpoint/2010/main" val="2510911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23604</TotalTime>
  <Words>948</Words>
  <Application>Microsoft Office PowerPoint</Application>
  <PresentationFormat>Widescreen</PresentationFormat>
  <Paragraphs>232</Paragraphs>
  <Slides>24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 Unicode MS</vt:lpstr>
      <vt:lpstr>MS Sans Serif</vt:lpstr>
      <vt:lpstr>华文楷体</vt:lpstr>
      <vt:lpstr>Arial</vt:lpstr>
      <vt:lpstr>Calibri</vt:lpstr>
      <vt:lpstr>Calibri Light</vt:lpstr>
      <vt:lpstr>Times New Roman</vt:lpstr>
      <vt:lpstr>Wingdings</vt:lpstr>
      <vt:lpstr>NTHU UniCloud</vt:lpstr>
      <vt:lpstr>自訂設計</vt:lpstr>
      <vt:lpstr>CSC3060 – Computer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Prof. HSU Wei-Chung (SDS)</cp:lastModifiedBy>
  <cp:revision>250</cp:revision>
  <dcterms:created xsi:type="dcterms:W3CDTF">2020-07-15T11:13:39Z</dcterms:created>
  <dcterms:modified xsi:type="dcterms:W3CDTF">2026-04-30T02:05:42Z</dcterms:modified>
</cp:coreProperties>
</file>