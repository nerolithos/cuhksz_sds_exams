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42"/>
  </p:notesMasterIdLst>
  <p:sldIdLst>
    <p:sldId id="256" r:id="rId3"/>
    <p:sldId id="287" r:id="rId4"/>
    <p:sldId id="312" r:id="rId5"/>
    <p:sldId id="314" r:id="rId6"/>
    <p:sldId id="316" r:id="rId7"/>
    <p:sldId id="331" r:id="rId8"/>
    <p:sldId id="315" r:id="rId9"/>
    <p:sldId id="288" r:id="rId10"/>
    <p:sldId id="322" r:id="rId11"/>
    <p:sldId id="308" r:id="rId12"/>
    <p:sldId id="289" r:id="rId13"/>
    <p:sldId id="323" r:id="rId14"/>
    <p:sldId id="321" r:id="rId15"/>
    <p:sldId id="324" r:id="rId16"/>
    <p:sldId id="317" r:id="rId17"/>
    <p:sldId id="266" r:id="rId18"/>
    <p:sldId id="301" r:id="rId19"/>
    <p:sldId id="329" r:id="rId20"/>
    <p:sldId id="328" r:id="rId21"/>
    <p:sldId id="327" r:id="rId22"/>
    <p:sldId id="330" r:id="rId23"/>
    <p:sldId id="325" r:id="rId24"/>
    <p:sldId id="259" r:id="rId25"/>
    <p:sldId id="296" r:id="rId26"/>
    <p:sldId id="313" r:id="rId27"/>
    <p:sldId id="267" r:id="rId28"/>
    <p:sldId id="280" r:id="rId29"/>
    <p:sldId id="307" r:id="rId30"/>
    <p:sldId id="332" r:id="rId31"/>
    <p:sldId id="309" r:id="rId32"/>
    <p:sldId id="310" r:id="rId33"/>
    <p:sldId id="311" r:id="rId34"/>
    <p:sldId id="320" r:id="rId35"/>
    <p:sldId id="319" r:id="rId36"/>
    <p:sldId id="278" r:id="rId37"/>
    <p:sldId id="333" r:id="rId38"/>
    <p:sldId id="335" r:id="rId39"/>
    <p:sldId id="336" r:id="rId40"/>
    <p:sldId id="337" r:id="rId4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81" autoAdjust="0"/>
    <p:restoredTop sz="94660"/>
  </p:normalViewPr>
  <p:slideViewPr>
    <p:cSldViewPr snapToGrid="0">
      <p:cViewPr varScale="1">
        <p:scale>
          <a:sx n="98" d="100"/>
          <a:sy n="98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010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592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543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8195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408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699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197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6047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535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731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5603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829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6219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672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6053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5154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7866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33324"/>
            <a:ext cx="10363200" cy="1470025"/>
          </a:xfrm>
        </p:spPr>
        <p:txBody>
          <a:bodyPr/>
          <a:lstStyle/>
          <a:p>
            <a:pPr algn="ctr"/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CSC3060 – Computer Systems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1509" y="3303597"/>
            <a:ext cx="9458632" cy="947390"/>
          </a:xfrm>
        </p:spPr>
        <p:txBody>
          <a:bodyPr/>
          <a:lstStyle/>
          <a:p>
            <a:r>
              <a:rPr lang="en-US" altLang="zh-TW" sz="4800" dirty="0"/>
              <a:t>Review Pop Quiz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4415-30E6-4BE5-9E20-77352570E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36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809" y="243699"/>
            <a:ext cx="10958208" cy="5780567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B3D363-C500-4159-9D2E-8E70FF01CF70}"/>
              </a:ext>
            </a:extLst>
          </p:cNvPr>
          <p:cNvSpPr txBox="1">
            <a:spLocks/>
          </p:cNvSpPr>
          <p:nvPr/>
        </p:nvSpPr>
        <p:spPr bwMode="auto">
          <a:xfrm>
            <a:off x="914400" y="1733324"/>
            <a:ext cx="10668000" cy="269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I</a:t>
            </a:r>
          </a:p>
          <a:p>
            <a:pPr algn="ctr"/>
            <a:r>
              <a:rPr lang="en-US" altLang="zh-TW" sz="5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(single answer)</a:t>
            </a:r>
          </a:p>
          <a:p>
            <a:pPr algn="ctr"/>
            <a:r>
              <a:rPr lang="en-US" altLang="zh-TW" sz="320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students who have not received &gt;2 points before</a:t>
            </a:r>
            <a:endParaRPr lang="zh-TW" altLang="en-US" sz="3200" i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870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computer architecture, the term “memory wall” refers to which of the following?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gap between the disk and the memory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gap between DRAM and SRAM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gap between the registers and the L1 data cache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gap between CPU and the main memory (DRAM)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6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361723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Which of the following pieces of information is not stored as part of a data cache line?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Data of the cache block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Set number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valid bit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address tag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dirty bit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420830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In a memory hierarchy, which layer is managed by the compiler or the programmers?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local memory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L1 cache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L2 cache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write buffer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</a:t>
            </a:r>
          </a:p>
        </p:txBody>
      </p:sp>
    </p:spTree>
    <p:extLst>
      <p:ext uri="{BB962C8B-B14F-4D97-AF65-F5344CB8AC3E}">
        <p14:creationId xmlns:p14="http://schemas.microsoft.com/office/powerpoint/2010/main" val="421935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</a:t>
            </a:r>
            <a:r>
              <a:rPr lang="en-US" altLang="zh-TW" sz="2400" dirty="0">
                <a:solidFill>
                  <a:srgbClr val="111827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We have a </a:t>
            </a:r>
            <a:r>
              <a:rPr lang="en-US" sz="2400" b="1" i="0" dirty="0">
                <a:solidFill>
                  <a:srgbClr val="111827"/>
                </a:solidFill>
                <a:effectLst/>
                <a:latin typeface="+mn-lt"/>
              </a:rPr>
              <a:t>64 KB, 4-way set-associative cache</a:t>
            </a:r>
            <a:r>
              <a:rPr lang="en-US" sz="2400" b="0" i="0" dirty="0">
                <a:solidFill>
                  <a:srgbClr val="111827"/>
                </a:solidFill>
                <a:effectLst/>
                <a:latin typeface="+mn-lt"/>
              </a:rPr>
              <a:t> with a </a:t>
            </a:r>
            <a:r>
              <a:rPr lang="en-US" sz="2400" b="1" i="0" dirty="0">
                <a:solidFill>
                  <a:srgbClr val="111827"/>
                </a:solidFill>
                <a:effectLst/>
                <a:latin typeface="+mn-lt"/>
              </a:rPr>
              <a:t>32-byte block (line) size</a:t>
            </a:r>
            <a:r>
              <a:rPr lang="en-US" sz="2400" b="0" i="0" dirty="0">
                <a:solidFill>
                  <a:srgbClr val="111827"/>
                </a:solidFill>
                <a:effectLst/>
                <a:latin typeface="+mn-lt"/>
              </a:rPr>
              <a:t>. When the CPU issues a 32-bit memory address, how many bits are allocated to the </a:t>
            </a:r>
            <a:r>
              <a:rPr lang="en-US" sz="2400" b="1" i="0" dirty="0">
                <a:solidFill>
                  <a:srgbClr val="111827"/>
                </a:solidFill>
                <a:effectLst/>
                <a:latin typeface="+mn-lt"/>
              </a:rPr>
              <a:t>Tag</a:t>
            </a:r>
            <a:r>
              <a:rPr lang="en-US" sz="2400" b="0" i="0" dirty="0">
                <a:solidFill>
                  <a:srgbClr val="111827"/>
                </a:solidFill>
                <a:effectLst/>
                <a:latin typeface="+mn-lt"/>
              </a:rPr>
              <a:t>, the </a:t>
            </a:r>
            <a:r>
              <a:rPr lang="en-US" sz="2400" b="1" i="0" dirty="0">
                <a:solidFill>
                  <a:srgbClr val="111827"/>
                </a:solidFill>
                <a:effectLst/>
                <a:latin typeface="+mn-lt"/>
              </a:rPr>
              <a:t>Set Index</a:t>
            </a:r>
            <a:r>
              <a:rPr lang="en-US" sz="2400" b="0" i="0" dirty="0">
                <a:solidFill>
                  <a:srgbClr val="111827"/>
                </a:solidFill>
                <a:effectLst/>
                <a:latin typeface="+mn-lt"/>
              </a:rPr>
              <a:t>, and the </a:t>
            </a:r>
            <a:r>
              <a:rPr lang="en-US" sz="2400" b="1" i="0" dirty="0">
                <a:solidFill>
                  <a:srgbClr val="111827"/>
                </a:solidFill>
                <a:effectLst/>
                <a:latin typeface="+mn-lt"/>
              </a:rPr>
              <a:t>Block Offset</a:t>
            </a:r>
            <a:r>
              <a:rPr lang="en-US" sz="2400" b="0" i="0" dirty="0">
                <a:solidFill>
                  <a:srgbClr val="111827"/>
                </a:solidFill>
                <a:effectLst/>
                <a:latin typeface="+mn-lt"/>
              </a:rPr>
              <a:t>, respectively?</a:t>
            </a:r>
            <a:endParaRPr lang="en-US" altLang="zh-TW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16, 11, 5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18, 8, 6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18, 9, 5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17, 9, 6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28908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5) Which of the following data structures is used in a non-blocking cache?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A prefetch buffer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AMAT counter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MSHR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Interlock table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3427709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6) </a:t>
            </a:r>
            <a:r>
              <a:rPr lang="en-US" sz="2800" i="0" dirty="0">
                <a:solidFill>
                  <a:srgbClr val="111827"/>
                </a:solidFill>
                <a:effectLst/>
                <a:latin typeface="+mn-lt"/>
              </a:rPr>
              <a:t> Which of the following cache organizations does not make sense? 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L3 is write-through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L1 is direct-mapped plus a victim cache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L2 write-back with write allocate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Split L1I / L1D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6" y="5562601"/>
            <a:ext cx="16706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</a:t>
            </a:r>
          </a:p>
        </p:txBody>
      </p:sp>
    </p:spTree>
    <p:extLst>
      <p:ext uri="{BB962C8B-B14F-4D97-AF65-F5344CB8AC3E}">
        <p14:creationId xmlns:p14="http://schemas.microsoft.com/office/powerpoint/2010/main" val="13651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7) </a:t>
            </a:r>
            <a:r>
              <a:rPr lang="en-US" sz="2800" i="0" dirty="0">
                <a:solidFill>
                  <a:srgbClr val="111827"/>
                </a:solidFill>
                <a:effectLst/>
                <a:latin typeface="+mn-lt"/>
              </a:rPr>
              <a:t> In a typical modern multi-core processor, which level of cache is usually shared among all the CPU cores? 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r>
              <a:rPr lang="en-US" sz="2800" dirty="0">
                <a:latin typeface="+mn-lt"/>
              </a:rPr>
              <a:t>	1) L1</a:t>
            </a:r>
          </a:p>
          <a:p>
            <a:pPr marL="0" indent="0">
              <a:buNone/>
              <a:defRPr/>
            </a:pPr>
            <a:r>
              <a:rPr lang="en-US" sz="2800" dirty="0">
                <a:latin typeface="+mn-lt"/>
              </a:rPr>
              <a:t>	2) L2</a:t>
            </a:r>
          </a:p>
          <a:p>
            <a:pPr marL="0" indent="0">
              <a:buNone/>
              <a:defRPr/>
            </a:pPr>
            <a:r>
              <a:rPr lang="en-US" sz="2800" dirty="0">
                <a:latin typeface="+mn-lt"/>
              </a:rPr>
              <a:t>	3) L3</a:t>
            </a:r>
          </a:p>
          <a:p>
            <a:pPr marL="0" indent="0">
              <a:buNone/>
              <a:defRPr/>
            </a:pPr>
            <a:r>
              <a:rPr lang="en-US" sz="2800" dirty="0">
                <a:latin typeface="+mn-lt"/>
              </a:rPr>
              <a:t>	4) L4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6" y="5562601"/>
            <a:ext cx="16706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57492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2298" y="467833"/>
            <a:ext cx="10778247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8) For a single-cycle data path design, if the D-cache miss rate is </a:t>
            </a:r>
            <a:r>
              <a:rPr lang="en-US" altLang="zh-TW" sz="2800" b="1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5%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US" altLang="zh-TW" sz="2800" b="1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40%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of instructions are load/stores, and the memory latency is </a:t>
            </a:r>
            <a:r>
              <a:rPr lang="en-US" altLang="zh-TW" sz="2800" b="1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100 cycles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 What would be the average CPI?</a:t>
            </a:r>
          </a:p>
          <a:p>
            <a:pPr marL="914381" lvl="1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2.0</a:t>
            </a:r>
          </a:p>
          <a:p>
            <a:pPr marL="914381" lvl="1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1.4</a:t>
            </a:r>
          </a:p>
          <a:p>
            <a:pPr marL="914381" lvl="1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1.6</a:t>
            </a:r>
          </a:p>
          <a:p>
            <a:pPr marL="914381" lvl="1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3.0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4510" y="5986790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2827197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9) The instruction cache is usually easier to manage than the data cache. Why?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It does not need to handle write operations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It does not need the valid bit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It does not need to handle cache line replacements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It does not need the tag bits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</a:t>
            </a:r>
          </a:p>
        </p:txBody>
      </p:sp>
    </p:spTree>
    <p:extLst>
      <p:ext uri="{BB962C8B-B14F-4D97-AF65-F5344CB8AC3E}">
        <p14:creationId xmlns:p14="http://schemas.microsoft.com/office/powerpoint/2010/main" val="29128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10) In modern processors, what is the likely L1D cache hit latency?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 cycle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3-4 cycles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5-6 cycles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10+ cycles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167491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809" y="243699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B3D363-C500-4159-9D2E-8E70FF01CF70}"/>
              </a:ext>
            </a:extLst>
          </p:cNvPr>
          <p:cNvSpPr txBox="1">
            <a:spLocks/>
          </p:cNvSpPr>
          <p:nvPr/>
        </p:nvSpPr>
        <p:spPr bwMode="auto">
          <a:xfrm>
            <a:off x="914400" y="1733324"/>
            <a:ext cx="103632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II</a:t>
            </a:r>
          </a:p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(multiple answers)</a:t>
            </a:r>
            <a:endParaRPr lang="zh-TW" altLang="en-US" sz="60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668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99822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11) What is the most likely cache organization for L1D in modern processors?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4-way set-associative, </a:t>
            </a:r>
            <a:r>
              <a:rPr lang="en-US" sz="2800" dirty="0">
                <a:latin typeface="+mn-lt"/>
              </a:rPr>
              <a:t>write-through, write-allocate,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Fully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-associative, write-through, write-</a:t>
            </a:r>
            <a:r>
              <a:rPr kumimoji="1" lang="en-US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noallocate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,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Direct-mapped,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 write-back, write-allocate,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4-way set-associative, write-back, write-allocate,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Direct-mapped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, write-back, write-</a:t>
            </a:r>
            <a:r>
              <a:rPr kumimoji="1" lang="en-US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noallocate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, </a:t>
            </a:r>
          </a:p>
          <a:p>
            <a:pPr marL="514350" indent="-514350">
              <a:buFont typeface="+mj-lt"/>
              <a:buAutoNum type="arabicParenR"/>
              <a:defRPr/>
            </a:pPr>
            <a:endParaRPr lang="en-US" sz="2800" dirty="0">
              <a:latin typeface="+mn-lt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408472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12) If minimizing the </a:t>
            </a:r>
            <a:r>
              <a:rPr lang="en-US" altLang="zh-TW" sz="2800" b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tag space 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 the primary goal, which cache features should be used?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</a:rPr>
              <a:t>Set associative caches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Direct-mapped caches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Write no-allocate policy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Large cache blocks (lines)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Inclusive caches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831" y="5562601"/>
            <a:ext cx="20297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 4</a:t>
            </a:r>
          </a:p>
        </p:txBody>
      </p:sp>
    </p:spTree>
    <p:extLst>
      <p:ext uri="{BB962C8B-B14F-4D97-AF65-F5344CB8AC3E}">
        <p14:creationId xmlns:p14="http://schemas.microsoft.com/office/powerpoint/2010/main" val="149619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99822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13) Modern processors typically include on-chip L1, L2, and L3 caches. Which statement is TRUE?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1) </a:t>
            </a:r>
            <a:r>
              <a:rPr kumimoji="0" lang="en-US" sz="2800" kern="1200" dirty="0">
                <a:latin typeface="Arial"/>
                <a:ea typeface="新細明體"/>
              </a:rPr>
              <a:t>The primary goal of L3 cache is to reduce the memory traffic to the memory</a:t>
            </a:r>
            <a:endParaRPr kumimoji="0" lang="en-US" sz="2800" b="0" i="0" u="none" strike="noStrike" kern="1200" cap="none" spc="0" normalizeH="0" baseline="30000" noProof="0" dirty="0">
              <a:ln>
                <a:noFill/>
              </a:ln>
              <a:effectLst/>
              <a:uLnTx/>
              <a:uFillTx/>
              <a:latin typeface="Arial"/>
              <a:ea typeface="新細明體"/>
              <a:cs typeface="+mn-cs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The primary goal of the L1 cache is to have a fast hit time</a:t>
            </a:r>
            <a:endParaRPr kumimoji="0" lang="en-US" sz="2800" b="0" i="0" u="none" strike="noStrike" kern="1200" cap="none" spc="0" normalizeH="0" baseline="30000" noProof="0" dirty="0">
              <a:ln>
                <a:noFill/>
              </a:ln>
              <a:effectLst/>
              <a:uLnTx/>
              <a:uFillTx/>
              <a:latin typeface="Arial"/>
              <a:ea typeface="新細明體"/>
              <a:cs typeface="+mn-cs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The L3 cache is often shared by multiple cores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The L2’s goal is to balance the speed and the capacity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410" y="5562601"/>
            <a:ext cx="24785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1,2,3,4</a:t>
            </a:r>
          </a:p>
        </p:txBody>
      </p:sp>
    </p:spTree>
    <p:extLst>
      <p:ext uri="{BB962C8B-B14F-4D97-AF65-F5344CB8AC3E}">
        <p14:creationId xmlns:p14="http://schemas.microsoft.com/office/powerpoint/2010/main" val="75399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3932" y="467833"/>
            <a:ext cx="11225719" cy="5780567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14) </a:t>
            </a: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What are the four types of cache misses (4C’s) ?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Compulsory misses, Conflict misses, Capacity misses, Coherence misses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Cold misses, Collision misses, Capacity misses, Coherence misses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Cascaded misses, Controlled misses, Contiguous misses, Conditional misses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Cool misses, Cold misses, Capacity misses, Coherence misses</a:t>
            </a:r>
          </a:p>
          <a:p>
            <a:pPr marL="0" indent="0">
              <a:buNone/>
              <a:defRPr/>
            </a:pPr>
            <a:endParaRPr lang="en-US" altLang="zh-TW" sz="24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4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4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6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</a:t>
            </a:r>
          </a:p>
        </p:txBody>
      </p:sp>
    </p:spTree>
    <p:extLst>
      <p:ext uri="{BB962C8B-B14F-4D97-AF65-F5344CB8AC3E}">
        <p14:creationId xmlns:p14="http://schemas.microsoft.com/office/powerpoint/2010/main" val="3710724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7863" y="467833"/>
            <a:ext cx="9688749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15) </a:t>
            </a: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Among the 4C’s, which cache misses are the most difficult to remove? 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Compulsory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Collision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Capacity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Coherence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8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163795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7863" y="467833"/>
            <a:ext cx="9688749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16) For the </a:t>
            </a:r>
            <a:r>
              <a:rPr lang="en-US" altLang="zh-TW" sz="2800" b="1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compulsory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misses, how may we reduce them?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Hardware prefetching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Having a larger cache line size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Increase the cache size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Add a victim cache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5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</a:t>
            </a:r>
          </a:p>
        </p:txBody>
      </p:sp>
    </p:spTree>
    <p:extLst>
      <p:ext uri="{BB962C8B-B14F-4D97-AF65-F5344CB8AC3E}">
        <p14:creationId xmlns:p14="http://schemas.microsoft.com/office/powerpoint/2010/main" val="94322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7863" y="467833"/>
            <a:ext cx="9688749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17) Compare the L2 to the L1 cache, the L2 cache is usually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Larger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Slower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Unified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Shared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063" y="5562601"/>
            <a:ext cx="2209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</a:t>
            </a:r>
          </a:p>
        </p:txBody>
      </p:sp>
    </p:spTree>
    <p:extLst>
      <p:ext uri="{BB962C8B-B14F-4D97-AF65-F5344CB8AC3E}">
        <p14:creationId xmlns:p14="http://schemas.microsoft.com/office/powerpoint/2010/main" val="160777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7863" y="467833"/>
            <a:ext cx="9688749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18) Four processors are connected to the main memory via a global bus. What are the possible solutions to maintain cache coherence?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Use a shared cache; no private cache allowed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If caches are private, use the Snoopy protocol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Build an inclusive multi-level cache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Split the instruction and the data cache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5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</a:t>
            </a:r>
          </a:p>
        </p:txBody>
      </p:sp>
    </p:spTree>
    <p:extLst>
      <p:ext uri="{BB962C8B-B14F-4D97-AF65-F5344CB8AC3E}">
        <p14:creationId xmlns:p14="http://schemas.microsoft.com/office/powerpoint/2010/main" val="392451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7863" y="467833"/>
            <a:ext cx="9688749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19) Assume the same cache size and the same line size. Which of the following statements are </a:t>
            </a:r>
            <a:r>
              <a:rPr lang="en-US" altLang="zh-TW" sz="2800" b="1" i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always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true?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direct-mapped cache is faster than set associative caches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fully associative cache has the lowest cache miss rate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direct-mapped cache has the lowest tag overhead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Replacement policy in a direct-mapped cache is the simplest 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4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3,4</a:t>
            </a:r>
          </a:p>
        </p:txBody>
      </p:sp>
    </p:spTree>
    <p:extLst>
      <p:ext uri="{BB962C8B-B14F-4D97-AF65-F5344CB8AC3E}">
        <p14:creationId xmlns:p14="http://schemas.microsoft.com/office/powerpoint/2010/main" val="115340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7" name="Rectangle 3">
            <a:extLst>
              <a:ext uri="{FF2B5EF4-FFF2-40B4-BE49-F238E27FC236}">
                <a16:creationId xmlns:a16="http://schemas.microsoft.com/office/drawing/2014/main" id="{FFD44B50-47EF-47BC-A2FB-56C4911BE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9340" y="371476"/>
            <a:ext cx="10302947" cy="5334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20) </a:t>
            </a:r>
            <a:r>
              <a:rPr lang="en-US" altLang="zh-TW" sz="32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What are the advantages of using a large cache line size? </a:t>
            </a:r>
          </a:p>
          <a:p>
            <a:pPr marL="742950" indent="-742950">
              <a:buFont typeface="+mj-lt"/>
              <a:buAutoNum type="arabicParenR"/>
              <a:defRPr/>
            </a:pPr>
            <a:r>
              <a:rPr lang="en-US" altLang="zh-TW" sz="32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It exploits more spatial locality</a:t>
            </a:r>
          </a:p>
          <a:p>
            <a:pPr marL="742950" indent="-742950">
              <a:buFont typeface="+mj-lt"/>
              <a:buAutoNum type="arabicParenR"/>
              <a:defRPr/>
            </a:pPr>
            <a:r>
              <a:rPr lang="en-US" altLang="zh-TW" sz="32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It exploits more temporal locality</a:t>
            </a:r>
          </a:p>
          <a:p>
            <a:pPr marL="742950" marR="0" lvl="0" indent="-7429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altLang="zh-TW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It saves tag space  </a:t>
            </a:r>
          </a:p>
          <a:p>
            <a:pPr marL="742950" indent="-742950">
              <a:buFont typeface="+mj-lt"/>
              <a:buAutoNum type="arabicParenR"/>
              <a:defRPr/>
            </a:pPr>
            <a:r>
              <a:rPr lang="en-US" altLang="zh-TW" sz="32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It could reduce compulsory misses</a:t>
            </a:r>
          </a:p>
          <a:p>
            <a:pPr marL="742950" indent="-742950">
              <a:buFont typeface="+mj-lt"/>
              <a:buAutoNum type="arabicParenR"/>
              <a:defRPr/>
            </a:pPr>
            <a:endParaRPr lang="en-US" altLang="zh-TW" dirty="0">
              <a:ea typeface="新細明體" panose="02020500000000000000" pitchFamily="18" charset="-12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dirty="0">
              <a:solidFill>
                <a:schemeClr val="tx2"/>
              </a:solidFill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441348" name="Text Box 4">
            <a:extLst>
              <a:ext uri="{FF2B5EF4-FFF2-40B4-BE49-F238E27FC236}">
                <a16:creationId xmlns:a16="http://schemas.microsoft.com/office/drawing/2014/main" id="{122927B1-D547-459A-B094-43111A785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19" y="5829300"/>
            <a:ext cx="2209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1,3,4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4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28409" y="467833"/>
            <a:ext cx="9980578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21) My computer has a two-way set associative cache with 4KB and 32B line size, which of the following memory reference sequences would run into conflict misses?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r>
              <a:rPr lang="en-US" altLang="zh-TW" sz="26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1) 0x01ABC000, </a:t>
            </a:r>
            <a:r>
              <a:rPr kumimoji="1" lang="en-US" altLang="zh-TW" sz="2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0x01ABC004, 0x01ABC010, 0x01ABC002,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zh-TW" sz="2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0x01ABC000, 0x01ABC020, 0x01ABC030, 0x01ABC040,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zh-TW" sz="2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0x01ABC000, 0x01ABB004, 0x01ABD000, 0x01ABA010,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lang="en-US" altLang="zh-TW" sz="26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</a:t>
            </a:r>
            <a:r>
              <a:rPr kumimoji="1" lang="en-US" altLang="zh-TW" sz="2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0x01ABC020, 0x01ABC030, 0x01ABC02A, 0x01ABC03A,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endParaRPr kumimoji="1" lang="en-US" altLang="zh-TW" sz="24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4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8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285379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22)  What is the multi-level cache implemented in your project #4?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Inclusive cache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Exclusive cache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NINE cache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Shared cache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5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159850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23) What replacement algorithm is implemented in the typical set-associative caches today?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LRU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FIFO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Approximate LRU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Random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Arial"/>
              </a:rPr>
              <a:t>Belady’s</a:t>
            </a:r>
            <a:r>
              <a:rPr lang="en-US" sz="2800" dirty="0">
                <a:solidFill>
                  <a:prstClr val="black"/>
                </a:solidFill>
                <a:latin typeface="Arial"/>
              </a:rPr>
              <a:t> algorithm </a:t>
            </a: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9" y="5562601"/>
            <a:ext cx="16706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262395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50587" y="467833"/>
            <a:ext cx="9863847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24) If you would like to implement a TRUE LRU replacement algorithm, what data structure should be used?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queue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stack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tree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heap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332505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25) You developed a new cache replacement algorithm that effectively balances procedure calls and looping behaviors. Now, what is the upper bound you need to evaluate against?  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Against LRU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Against Random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Against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Belady’s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algorithm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Against a perfect cache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9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213470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26) My cache supports both write-allocate and write-no-allocate policies; it is controlled by a bit in the store instruction. Under what condition should the store instruction turn on “</a:t>
            </a:r>
            <a:r>
              <a:rPr lang="en-US" altLang="zh-TW" sz="2800" b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write-no-allocate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”?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the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memcpy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a,b,n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lib call when n is large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When storing local variables in a procedure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When storing a struct member (e.g.,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st.a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or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-&gt;a)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the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memset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a,b,n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lib call when n is large.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When writing database logs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064" y="5562601"/>
            <a:ext cx="2209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1,4,5</a:t>
            </a:r>
          </a:p>
        </p:txBody>
      </p:sp>
    </p:spTree>
    <p:extLst>
      <p:ext uri="{BB962C8B-B14F-4D97-AF65-F5344CB8AC3E}">
        <p14:creationId xmlns:p14="http://schemas.microsoft.com/office/powerpoint/2010/main" val="10111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27) Which cache features require greater bus and memory bandwidth?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Large cache lines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Cache prefetching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Non-blocking caches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Exclusive, multi-level, write-back caches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Write-through caches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412" y="5562601"/>
            <a:ext cx="24785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1,2,3,5</a:t>
            </a:r>
          </a:p>
        </p:txBody>
      </p:sp>
    </p:spTree>
    <p:extLst>
      <p:ext uri="{BB962C8B-B14F-4D97-AF65-F5344CB8AC3E}">
        <p14:creationId xmlns:p14="http://schemas.microsoft.com/office/powerpoint/2010/main" val="291975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5294" y="467833"/>
            <a:ext cx="1084634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28) Which of the following statements about the “</a:t>
            </a:r>
            <a:r>
              <a:rPr lang="en-US" altLang="zh-TW" sz="2800" b="1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snoopy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” cache are true?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 works as a watchdog for preventing illegal cache references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 is designed to maintain cache coherence for bus-connected multi-processor systems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 is designed for data security enforcement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 will generate significant snooping bus traffic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50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2,4</a:t>
            </a:r>
          </a:p>
        </p:txBody>
      </p:sp>
    </p:spTree>
    <p:extLst>
      <p:ext uri="{BB962C8B-B14F-4D97-AF65-F5344CB8AC3E}">
        <p14:creationId xmlns:p14="http://schemas.microsoft.com/office/powerpoint/2010/main" val="1855337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67833"/>
            <a:ext cx="96774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29) Which of the following could reduce conflict misses incurred in a direct-mapped L1D cache?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Increase the cache sizes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Increase the cache block (line) sizes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Add a victim cache 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Change to set associative cache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Use the best replacement algorithm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4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1,3,4</a:t>
            </a:r>
          </a:p>
        </p:txBody>
      </p:sp>
    </p:spTree>
    <p:extLst>
      <p:ext uri="{BB962C8B-B14F-4D97-AF65-F5344CB8AC3E}">
        <p14:creationId xmlns:p14="http://schemas.microsoft.com/office/powerpoint/2010/main" val="375362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67833"/>
            <a:ext cx="96774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30) Which of the following are often useful in reducing cache capacity misses?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Increase the cache sizes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Increase the cache block (line) sizes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Add one victim cache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Change to set associative cache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Cache prefetching 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51" y="5562601"/>
            <a:ext cx="1689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1,5</a:t>
            </a:r>
          </a:p>
        </p:txBody>
      </p:sp>
    </p:spTree>
    <p:extLst>
      <p:ext uri="{BB962C8B-B14F-4D97-AF65-F5344CB8AC3E}">
        <p14:creationId xmlns:p14="http://schemas.microsoft.com/office/powerpoint/2010/main" val="239906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6579" y="467833"/>
            <a:ext cx="9755221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31) MSHR (Miss Status Handling Registers) are used to track multiple outstanding cache misses. Each level of cache has its own MSHR. On a </a:t>
            </a:r>
            <a:r>
              <a:rPr lang="en-US" altLang="zh-TW" sz="2800" b="1" i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multicore chip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the </a:t>
            </a: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number of entries in the </a:t>
            </a:r>
            <a:r>
              <a:rPr kumimoji="1" lang="en-US" altLang="zh-TW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L3 </a:t>
            </a:r>
            <a:r>
              <a:rPr lang="en-US" altLang="zh-TW" sz="2800" b="1" i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MSHR 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would likely be influenced by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memory latency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memory bus width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size of the L2 cache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number of cores sharing the L3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52" y="5562601"/>
            <a:ext cx="1689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</a:t>
            </a:r>
          </a:p>
        </p:txBody>
      </p:sp>
    </p:spTree>
    <p:extLst>
      <p:ext uri="{BB962C8B-B14F-4D97-AF65-F5344CB8AC3E}">
        <p14:creationId xmlns:p14="http://schemas.microsoft.com/office/powerpoint/2010/main" val="111451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945" y="467833"/>
            <a:ext cx="10836612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32) I-cache does not take stores from the processor. However, modern applications use “</a:t>
            </a:r>
            <a:r>
              <a:rPr lang="en-US" altLang="zh-TW" sz="2800" i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instruction patching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” or “</a:t>
            </a:r>
            <a:r>
              <a:rPr lang="en-US" altLang="zh-TW" sz="2800" i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JIT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” code generation to either modify instructions or generate a new code section for subsequent execution.  Which of the following solutions are required for evicting stale instructions in the I-cache?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Flush the I-cache to purge all old instructions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Invalidate the I-cache lines containing the instructions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Flush the data caches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Maintain coherence between I- and D-cache: any updates to the D-cache will also write into the respective lines in I-cache.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1538" y="6159334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1,2,4</a:t>
            </a:r>
          </a:p>
        </p:txBody>
      </p:sp>
    </p:spTree>
    <p:extLst>
      <p:ext uri="{BB962C8B-B14F-4D97-AF65-F5344CB8AC3E}">
        <p14:creationId xmlns:p14="http://schemas.microsoft.com/office/powerpoint/2010/main" val="35743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945" y="467833"/>
            <a:ext cx="10836612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33) Which of the following multi-level cache organizations does not make sense?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L1I copy back and L1D write-through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L1/L2 exclusive, L2/L3 inclusive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L1D 4-way set associative, L2 direct mapped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L1/L2 inclusive, L2/L3 exclusive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1538" y="6159334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</a:t>
            </a:r>
          </a:p>
        </p:txBody>
      </p:sp>
    </p:spTree>
    <p:extLst>
      <p:ext uri="{BB962C8B-B14F-4D97-AF65-F5344CB8AC3E}">
        <p14:creationId xmlns:p14="http://schemas.microsoft.com/office/powerpoint/2010/main" val="406922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945" y="467833"/>
            <a:ext cx="10836612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34) In contemporary processors, the vast majority of chip space is dedicated to what?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Branch prediction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Register files 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Pipelined registers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Floating-point functional units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Caches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369" y="6159334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5</a:t>
            </a:r>
          </a:p>
        </p:txBody>
      </p:sp>
    </p:spTree>
    <p:extLst>
      <p:ext uri="{BB962C8B-B14F-4D97-AF65-F5344CB8AC3E}">
        <p14:creationId xmlns:p14="http://schemas.microsoft.com/office/powerpoint/2010/main" val="127946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945" y="467833"/>
            <a:ext cx="10836612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35) Which of the following sorting algorithms is known to have high data locality?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Quicksort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Insertion sort 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Heapsort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Radix sort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Bubble sort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1537" y="6159334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1,2,5</a:t>
            </a:r>
          </a:p>
        </p:txBody>
      </p:sp>
    </p:spTree>
    <p:extLst>
      <p:ext uri="{BB962C8B-B14F-4D97-AF65-F5344CB8AC3E}">
        <p14:creationId xmlns:p14="http://schemas.microsoft.com/office/powerpoint/2010/main" val="125822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1753" y="467833"/>
            <a:ext cx="11079804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36) What is the difference between a hardware cache and a software cache (such as a disk file cache)?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Software caches are managed by system software or applications, whereas hardware caches are managed by the hardware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effectLst/>
                <a:latin typeface="+mn-lt"/>
              </a:rPr>
              <a:t>Hardware caches support associative search, while software caches utilize lookup data structures such as hash tables.</a:t>
            </a:r>
            <a:endParaRPr lang="en-US" altLang="zh-TW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Hardware caches must implement simple and fast replacement algorithms; software caches can use more complex algorithms.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Hardware caches are flexible in size, but software caches are not.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3065" y="6159334"/>
            <a:ext cx="19976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 </a:t>
            </a:r>
          </a:p>
        </p:txBody>
      </p:sp>
    </p:spTree>
    <p:extLst>
      <p:ext uri="{BB962C8B-B14F-4D97-AF65-F5344CB8AC3E}">
        <p14:creationId xmlns:p14="http://schemas.microsoft.com/office/powerpoint/2010/main" val="3536791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22294</TotalTime>
  <Words>1837</Words>
  <Application>Microsoft Office PowerPoint</Application>
  <PresentationFormat>Widescreen</PresentationFormat>
  <Paragraphs>326</Paragraphs>
  <Slides>39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Arial Unicode MS</vt:lpstr>
      <vt:lpstr>MS Sans Serif</vt:lpstr>
      <vt:lpstr>新細明體</vt:lpstr>
      <vt:lpstr>华文楷体</vt:lpstr>
      <vt:lpstr>Arial</vt:lpstr>
      <vt:lpstr>Calibri</vt:lpstr>
      <vt:lpstr>Calibri Light</vt:lpstr>
      <vt:lpstr>Symbol</vt:lpstr>
      <vt:lpstr>Times New Roman</vt:lpstr>
      <vt:lpstr>Wingdings</vt:lpstr>
      <vt:lpstr>NTHU UniCloud</vt:lpstr>
      <vt:lpstr>自訂設計</vt:lpstr>
      <vt:lpstr>CSC3060 – Computer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HSU Wei-Chung (SDS)</cp:lastModifiedBy>
  <cp:revision>243</cp:revision>
  <dcterms:created xsi:type="dcterms:W3CDTF">2020-07-15T11:13:39Z</dcterms:created>
  <dcterms:modified xsi:type="dcterms:W3CDTF">2026-04-16T02:15:39Z</dcterms:modified>
</cp:coreProperties>
</file>