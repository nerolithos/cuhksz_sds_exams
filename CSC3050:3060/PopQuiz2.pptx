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44"/>
  </p:notesMasterIdLst>
  <p:sldIdLst>
    <p:sldId id="256" r:id="rId3"/>
    <p:sldId id="277" r:id="rId4"/>
    <p:sldId id="287" r:id="rId5"/>
    <p:sldId id="288" r:id="rId6"/>
    <p:sldId id="290" r:id="rId7"/>
    <p:sldId id="299" r:id="rId8"/>
    <p:sldId id="303" r:id="rId9"/>
    <p:sldId id="283" r:id="rId10"/>
    <p:sldId id="347" r:id="rId11"/>
    <p:sldId id="335" r:id="rId12"/>
    <p:sldId id="278" r:id="rId13"/>
    <p:sldId id="336" r:id="rId14"/>
    <p:sldId id="311" r:id="rId15"/>
    <p:sldId id="342" r:id="rId16"/>
    <p:sldId id="341" r:id="rId17"/>
    <p:sldId id="343" r:id="rId18"/>
    <p:sldId id="345" r:id="rId19"/>
    <p:sldId id="322" r:id="rId20"/>
    <p:sldId id="331" r:id="rId21"/>
    <p:sldId id="266" r:id="rId22"/>
    <p:sldId id="296" r:id="rId23"/>
    <p:sldId id="344" r:id="rId24"/>
    <p:sldId id="307" r:id="rId25"/>
    <p:sldId id="334" r:id="rId26"/>
    <p:sldId id="319" r:id="rId27"/>
    <p:sldId id="310" r:id="rId28"/>
    <p:sldId id="346" r:id="rId29"/>
    <p:sldId id="348" r:id="rId30"/>
    <p:sldId id="289" r:id="rId31"/>
    <p:sldId id="349" r:id="rId32"/>
    <p:sldId id="340" r:id="rId33"/>
    <p:sldId id="279" r:id="rId34"/>
    <p:sldId id="321" r:id="rId35"/>
    <p:sldId id="338" r:id="rId36"/>
    <p:sldId id="267" r:id="rId37"/>
    <p:sldId id="324" r:id="rId38"/>
    <p:sldId id="337" r:id="rId39"/>
    <p:sldId id="339" r:id="rId40"/>
    <p:sldId id="316" r:id="rId41"/>
    <p:sldId id="320" r:id="rId42"/>
    <p:sldId id="317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binary system can only represent fractions that are sums of negative powers of 2 (e.g., 1/2, 1/4, 1/8,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71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0178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916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GCC has extensions to use BFloat16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829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GCC has extensions to use BFloat16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3722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386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469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32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Quad-precision, FP16, and Bfloat16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501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19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86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1509" y="3303597"/>
            <a:ext cx="9458632" cy="947390"/>
          </a:xfrm>
        </p:spPr>
        <p:txBody>
          <a:bodyPr/>
          <a:lstStyle/>
          <a:p>
            <a:r>
              <a:rPr lang="en-US" altLang="zh-TW" sz="4800" dirty="0"/>
              <a:t>Quiz 2 (group competition)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Example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universally adopted standard for floating-point numbers?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ACM 754 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IEEE 754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ANSI 754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ISO   754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228571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you ready ?</a:t>
            </a:r>
            <a:endParaRPr lang="zh-TW" altLang="en-US" sz="60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7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Which standards have been widely adopted in the field of floating-point arithmetic?  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IEEE 754-1985 for single-precision and double-precision floating point numbers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IEEE 754-2008 for quad-precision and half-precision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IEEE 754-2024 for mini-float (FP8) and FP4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IEEE 754-2008 for bfloat16 and FP16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9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13651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What is the value of the following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hexadecimal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number?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80000000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1.0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 err="1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NaN</a:t>
            </a:r>
            <a:endParaRPr lang="en-US" altLang="zh-TW" sz="28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-0.0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-2.0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0.0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231704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9197502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Which decimal numbers have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exact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representations in IEEE 754 FP format? 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lang="en-US" altLang="zh-TW" sz="2800" dirty="0">
              <a:solidFill>
                <a:srgbClr val="1F497D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0" lang="en-US" sz="2800" kern="1200" dirty="0">
                <a:solidFill>
                  <a:prstClr val="black"/>
                </a:solidFill>
                <a:latin typeface="Arial"/>
                <a:ea typeface="新細明體"/>
              </a:rPr>
              <a:t>0.1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0.2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0.3</a:t>
            </a: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0.5</a:t>
            </a:r>
            <a:endParaRPr kumimoji="0" lang="en-US" sz="2800" kern="1200" dirty="0">
              <a:solidFill>
                <a:srgbClr val="1F497D"/>
              </a:solidFill>
              <a:latin typeface="Arial"/>
              <a:ea typeface="Arial Unicode MS" panose="020B0604020202020204" pitchFamily="34" charset="-128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</a:rPr>
              <a:t>0.0625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4,5</a:t>
            </a:r>
          </a:p>
        </p:txBody>
      </p:sp>
    </p:spTree>
    <p:extLst>
      <p:ext uri="{BB962C8B-B14F-4D97-AF65-F5344CB8AC3E}">
        <p14:creationId xmlns:p14="http://schemas.microsoft.com/office/powerpoint/2010/main" val="211277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5294" y="467833"/>
            <a:ext cx="10272408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What are denormalized numbers?  </a:t>
            </a:r>
          </a:p>
          <a:p>
            <a:pPr marL="0" indent="0">
              <a:buNone/>
              <a:defRPr/>
            </a:pPr>
            <a:endParaRPr kumimoji="1" lang="en-US" altLang="zh-TW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numbers that are too small to fit in the standard format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numbers that are too large to fit in the standard format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 point numbers that are not yet normalized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Denormalized numbers have an exponent of 0, and the hidden 1 in the significand is excluded.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7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638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2525" y="467833"/>
            <a:ext cx="976190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5) In Project #3, we have assumed a fast integer multiplier where many parallel adders are used, and each adder computes a partial product. Then, all the partial products are combined to yield a single result. The shape of the organization of those adders earns a special name, which is: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Prism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Pagoda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Pyramid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Palace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Paragon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8228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2525" y="467833"/>
            <a:ext cx="976190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6) In Project #3, which RISC-V model are you constructing?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RV64I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RV32IM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RV32IF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RV32G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33985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375" y="467833"/>
            <a:ext cx="1046432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7) Why does FMAC (Fused Multiply and Accumulate) provide more accurate results than a separate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Fmul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and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Fadd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sequence?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</a:rPr>
              <a:t>Separate FMUL and FADD would require two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</a:rPr>
              <a:t>roundings</a:t>
            </a:r>
            <a:r>
              <a:rPr kumimoji="0" lang="en-US" sz="2800" kern="1200" dirty="0">
                <a:solidFill>
                  <a:srgbClr val="1F497D"/>
                </a:solidFill>
                <a:latin typeface="Arial"/>
                <a:ea typeface="Arial Unicode MS" panose="020B0604020202020204" pitchFamily="34" charset="-128"/>
              </a:rPr>
              <a:t>, FMAC requires only one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+mn-cs"/>
              </a:rPr>
              <a:t>Separate FMUL and FADD would require two normalizations, FMAC requires only one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+mn-cs"/>
              </a:rPr>
              <a:t>FMUL and FADD have data dependencies, resulting in a loss of precision.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0" lang="en-US" sz="2800" kern="1200" dirty="0">
                <a:solidFill>
                  <a:srgbClr val="1F497D"/>
                </a:solidFill>
                <a:latin typeface="Arial"/>
                <a:ea typeface="Arial Unicode MS" panose="020B0604020202020204" pitchFamily="34" charset="-128"/>
              </a:rPr>
              <a:t>Merged operations are always more accurate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Arial Unicode MS" panose="020B0604020202020204" pitchFamily="34" charset="-128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Arial Unicode MS" panose="020B0604020202020204" pitchFamily="34" charset="-128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Arial Unicode MS" panose="020B0604020202020204" pitchFamily="34" charset="-128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AutoNum type="arabicParenR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2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184410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467833"/>
            <a:ext cx="1019175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8) Nvidia Blackwell supports FP4 format in AI applications. What benefits does the FP4 format provide?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FP4 could double the computational throughput compared to FP8.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FP4 leads to improved power efficiency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FP4 results in more accurate predictions for AI applications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FP4 reduces the memory bandwidth requirements to load/store model parameters and activations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35743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467833"/>
            <a:ext cx="1019175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9) What do x86 SIMD, RISC-V Vector, and Nvidia GPUs have in common?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all support DLP (Data Level Parallelism)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all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perform the same operation on multiple data elements.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They all originated from the graphics processing paradigm 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They are all suitable for control-intensive tasks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They all require high memory bandwidth</a:t>
            </a:r>
          </a:p>
          <a:p>
            <a:pPr marL="514350" indent="-514350">
              <a:buAutoNum type="arabicParenR"/>
              <a:defRPr/>
            </a:pPr>
            <a:endParaRPr lang="en-US" sz="2800" dirty="0">
              <a:solidFill>
                <a:schemeClr val="tx2"/>
              </a:solidFill>
              <a:latin typeface="+mn-lt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5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1,2,5</a:t>
            </a:r>
          </a:p>
        </p:txBody>
      </p:sp>
    </p:spTree>
    <p:extLst>
      <p:ext uri="{BB962C8B-B14F-4D97-AF65-F5344CB8AC3E}">
        <p14:creationId xmlns:p14="http://schemas.microsoft.com/office/powerpoint/2010/main" val="367886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10)</a:t>
            </a:r>
            <a:r>
              <a:rPr lang="en-US" sz="1100" b="1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Compared to a pipelined data path, a single-cycle data path typically has: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Higher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throughput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Faster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clock rate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More complex control logic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A longer operation latency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A lower CPI</a:t>
            </a: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5</a:t>
            </a:r>
          </a:p>
        </p:txBody>
      </p:sp>
    </p:spTree>
    <p:extLst>
      <p:ext uri="{BB962C8B-B14F-4D97-AF65-F5344CB8AC3E}">
        <p14:creationId xmlns:p14="http://schemas.microsoft.com/office/powerpoint/2010/main" val="318892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11) Which of the following statements about single-cycle data path implementation is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CPI is 1, every instruction must finish in one cycle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clock cycle must accommodate the slowest instruction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resources in the data path cannot be reused in the same cycle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result is written back to the register file in the same clock cycle.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2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263956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12) What hazards will decrease the efficiency of a pipeline? </a:t>
            </a: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Structure hazards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Data hazards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Instruction hazards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Forward hazards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Control hazards</a:t>
            </a:r>
          </a:p>
          <a:p>
            <a:pPr marL="1200126" lvl="1" indent="-742950">
              <a:buAutoNum type="arabicParenR"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3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1,2,5</a:t>
            </a:r>
          </a:p>
        </p:txBody>
      </p:sp>
    </p:spTree>
    <p:extLst>
      <p:ext uri="{BB962C8B-B14F-4D97-AF65-F5344CB8AC3E}">
        <p14:creationId xmlns:p14="http://schemas.microsoft.com/office/powerpoint/2010/main" val="75935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13) Which of the following implementations may have a CPI lower than 1?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Single-cycle data path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Multi-cycle data path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Pipelined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Superscalar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39811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4DDE-7270-DD15-A844-E60B7BAD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33F29-EBE8-B26E-5A30-2592F1853A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24B9CFCB-5AE4-70BF-5425-6D81A1060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14) </a:t>
            </a:r>
            <a:r>
              <a:rPr lang="en-US" altLang="zh-CN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are the key principles of designing a pipelined data path?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Multi-stage execution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Increased throughput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Overlapped execution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Lowered instruction latency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Improved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resource utilization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F01BB5B7-85C6-EC35-3C61-A08259121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711" y="6159334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1,2,3,5</a:t>
            </a:r>
          </a:p>
        </p:txBody>
      </p:sp>
    </p:spTree>
    <p:extLst>
      <p:ext uri="{BB962C8B-B14F-4D97-AF65-F5344CB8AC3E}">
        <p14:creationId xmlns:p14="http://schemas.microsoft.com/office/powerpoint/2010/main" val="15101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853C-096D-5522-D29C-6E201D6E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66A30-C833-0715-E71F-C67493C125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114F5E29-B861-4210-1599-582A14AC2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15) What might occur if we double the number of pipelined stages from 5 to 10? 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The clock rate might become faster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The branch misprediction penalty becomes higher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The data hazard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penalty might increase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The </a:t>
            </a:r>
            <a:r>
              <a:rPr lang="en-US" altLang="zh-CN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throughput is likely to increase</a:t>
            </a:r>
            <a:endParaRPr lang="en-US" sz="28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</a:t>
            </a:r>
            <a:r>
              <a:rPr lang="en-US" altLang="zh-CN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More pipelined registers are required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16DA6561-5A3D-C226-9F13-CA027F27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5295" y="6159334"/>
            <a:ext cx="23823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</a:t>
            </a: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: 1,2,3,4,5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786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16) What (HW/SW) strategies can reduce pipeline stalls caused by data hazards? </a:t>
            </a: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Increase the pipeline stages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Data forwarding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Adding multiple functional units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Compiler instruction scheduling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Branch prediction </a:t>
            </a:r>
          </a:p>
          <a:p>
            <a:pPr marL="1200126" lvl="1" indent="-742950">
              <a:buAutoNum type="arabicParenR"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2,4</a:t>
            </a:r>
          </a:p>
        </p:txBody>
      </p:sp>
    </p:spTree>
    <p:extLst>
      <p:ext uri="{BB962C8B-B14F-4D97-AF65-F5344CB8AC3E}">
        <p14:creationId xmlns:p14="http://schemas.microsoft.com/office/powerpoint/2010/main" val="48841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9226" y="467833"/>
            <a:ext cx="9990306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17) Branch prediction should be performed at which of the pipelined stage?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1) WB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</a:t>
            </a: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ID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</a:t>
            </a: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EXE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</a:t>
            </a: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IF</a:t>
            </a:r>
          </a:p>
          <a:p>
            <a:pPr marL="0" indent="0">
              <a:buNone/>
              <a:defRPr/>
            </a:pP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5) MEM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75399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18) Which of the following are considered part of “architecture states”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/>
                <a:cs typeface="Arial Unicode MS" panose="020B0604020202020204" pitchFamily="34" charset="-128"/>
              </a:rPr>
              <a:t>? 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Arial Unicode MS" panose="020B0604020202020204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BHT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BTB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general purpose registers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PC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pipelined registers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3,4</a:t>
            </a:r>
          </a:p>
        </p:txBody>
      </p:sp>
    </p:spTree>
    <p:extLst>
      <p:ext uri="{BB962C8B-B14F-4D97-AF65-F5344CB8AC3E}">
        <p14:creationId xmlns:p14="http://schemas.microsoft.com/office/powerpoint/2010/main" val="28537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9650" y="467833"/>
            <a:ext cx="102108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AU" altLang="zh-TW" sz="2800" dirty="0">
                <a:solidFill>
                  <a:srgbClr val="1F497D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19)</a:t>
            </a:r>
            <a:r>
              <a:rPr kumimoji="1" lang="en-AU" altLang="zh-TW" sz="280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CPU Time = 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Inst count </a:t>
            </a:r>
            <a:r>
              <a:rPr kumimoji="1" lang="en-AU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X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 CPI </a:t>
            </a:r>
            <a:r>
              <a:rPr kumimoji="1" lang="en-AU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X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 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Clock cycle time</a:t>
            </a:r>
          </a:p>
          <a:p>
            <a:pPr marL="0" indent="0">
              <a:buNone/>
              <a:defRPr/>
            </a:pPr>
            <a:endParaRPr lang="en-US" altLang="zh-TW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kumimoji="1" lang="en-US" altLang="zh-TW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SIMD/Vector instructions can significantly reduce 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Inst count</a:t>
            </a:r>
            <a:endParaRPr lang="en-US" altLang="zh-TW" sz="28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Pipeline processors reduce 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</a:rPr>
              <a:t>Clock cycle time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Multi-cycle data paths reduce </a:t>
            </a:r>
            <a:r>
              <a:rPr kumimoji="1" lang="en-AU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  <a:cs typeface="+mn-cs"/>
              </a:rPr>
              <a:t>Clock cycle time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Superscalar processors reduce </a:t>
            </a:r>
            <a:r>
              <a:rPr kumimoji="1" lang="en-US" altLang="zh-TW" sz="2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CPI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Adding Fused-Mul-Add (</a:t>
            </a:r>
            <a:r>
              <a:rPr lang="en-US" altLang="zh-TW" sz="2800" b="1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fma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instruction reduces all three parameters.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9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235869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20) Frequent stalls in the pipeline are likely to occur when traversing a linked list in a loop because of: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Structure hazards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Date hazards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Data hazards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Control hazards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5731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9096376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21) Which integer adder can provide a one-cycle latency? </a:t>
            </a: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 marL="514350" indent="-514350">
              <a:buAutoNum type="arabicParenR"/>
              <a:defRPr/>
            </a:pPr>
            <a:r>
              <a:rPr lang="en-US" sz="2800" dirty="0"/>
              <a:t>A Ripple-carry adder </a:t>
            </a:r>
          </a:p>
          <a:p>
            <a:pPr marL="514350" indent="-514350">
              <a:buAutoNum type="arabicParenR"/>
              <a:defRPr/>
            </a:pPr>
            <a:r>
              <a:rPr lang="en-US" sz="2800" dirty="0"/>
              <a:t>1’s complement adder </a:t>
            </a:r>
          </a:p>
          <a:p>
            <a:pPr marL="514350" indent="-514350">
              <a:buAutoNum type="arabicParenR"/>
              <a:defRPr/>
            </a:pPr>
            <a:r>
              <a:rPr lang="en-US" sz="2800" dirty="0"/>
              <a:t>A Carry-Lookahead (CLA) adder 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prstClr val="black"/>
                </a:solidFill>
              </a:rPr>
              <a:t>A Quantum adder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19109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22) Which of the following could be effective for static branch predictions?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a backward branch taken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a forward branch </a:t>
            </a:r>
            <a:r>
              <a:rPr lang="en-US" sz="2800" b="1" dirty="0">
                <a:latin typeface="+mn-lt"/>
              </a:rPr>
              <a:t>not</a:t>
            </a:r>
            <a:r>
              <a:rPr lang="en-US" sz="2800" dirty="0">
                <a:latin typeface="+mn-lt"/>
              </a:rPr>
              <a:t> taken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the </a:t>
            </a:r>
            <a:r>
              <a:rPr lang="en-US" sz="2800" b="1" dirty="0" err="1">
                <a:latin typeface="+mn-lt"/>
              </a:rPr>
              <a:t>beq</a:t>
            </a:r>
            <a:r>
              <a:rPr lang="en-US" sz="2800" dirty="0">
                <a:latin typeface="+mn-lt"/>
              </a:rPr>
              <a:t>  rs1, x0 </a:t>
            </a:r>
            <a:r>
              <a:rPr lang="en-US" sz="2800" b="1" dirty="0">
                <a:latin typeface="+mn-lt"/>
              </a:rPr>
              <a:t>not</a:t>
            </a:r>
            <a:r>
              <a:rPr lang="en-US" sz="2800" dirty="0">
                <a:latin typeface="+mn-lt"/>
              </a:rPr>
              <a:t> taken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the </a:t>
            </a:r>
            <a:r>
              <a:rPr lang="en-US" sz="2800" b="1" dirty="0" err="1">
                <a:latin typeface="+mn-lt"/>
              </a:rPr>
              <a:t>blt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instructions</a:t>
            </a:r>
            <a:r>
              <a:rPr lang="en-US" sz="2800" b="1" dirty="0">
                <a:latin typeface="+mn-lt"/>
              </a:rPr>
              <a:t> taken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1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374419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23)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Which of the following are NOT techniques used to address control hazards?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Pipeline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stalls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BTB (Branch Target Buffer)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Branch prediction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   4)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Data forwarding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159747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24) What type of parallelism is exploited by the compiler code scheduling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DLP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TLP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ILP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   4) MLP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332279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609600" y="2619149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II </a:t>
            </a:r>
          </a:p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 points per question)</a:t>
            </a:r>
            <a:endParaRPr lang="zh-TW" altLang="en-US" sz="60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187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6869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25) What information is used to index a branch prediction table in correlated branch prediction (also known as 2-level adaptive branch prediction)?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PC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Branch target address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Top of the return address stack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 branch history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5537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6869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26) A 32-bit memory word consisting entirely of 1’s; what could it mean?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Signed integer value -1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Unsigned integer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新細明體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Arial"/>
                <a:ea typeface="新細明體"/>
                <a:cs typeface="+mn-cs"/>
              </a:rPr>
              <a:t>31</a:t>
            </a:r>
            <a:r>
              <a:rPr lang="en-US" sz="2800" dirty="0">
                <a:latin typeface="Arial"/>
                <a:ea typeface="Arial Unicode MS" panose="020B0604020202020204" pitchFamily="34" charset="-128"/>
              </a:rPr>
              <a:t>-1</a:t>
            </a: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Single precision FP value -1.0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is a </a:t>
            </a:r>
            <a:r>
              <a:rPr lang="en-US" sz="2800" dirty="0" err="1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NaN</a:t>
            </a: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 in single precision FP format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is a pointer to the highest address within the 4GB memory space.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3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1,4,5</a:t>
            </a:r>
          </a:p>
        </p:txBody>
      </p:sp>
    </p:spTree>
    <p:extLst>
      <p:ext uri="{BB962C8B-B14F-4D97-AF65-F5344CB8AC3E}">
        <p14:creationId xmlns:p14="http://schemas.microsoft.com/office/powerpoint/2010/main" val="275440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6869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27) A 32-bit memory word containing all 0s; what could it mean?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Signed integer value 0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Single precision FP value 0.0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is a denormalized number (exponent is 0)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is a NULL pointer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is a NOP instruction on the RISC-V processor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307130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28)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Saturation arithmetic is particularly useful and often necessary for which data types?  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1) Floating point data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2) Audio processing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3) Video processing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4) Quantized data in AI models (e.g. int4, int8)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5) Text data</a:t>
            </a:r>
          </a:p>
          <a:p>
            <a:pPr marL="1200126" lvl="1" indent="-742950">
              <a:buAutoNum type="arabicParenR"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3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2,3,4</a:t>
            </a:r>
          </a:p>
        </p:txBody>
      </p:sp>
    </p:spTree>
    <p:extLst>
      <p:ext uri="{BB962C8B-B14F-4D97-AF65-F5344CB8AC3E}">
        <p14:creationId xmlns:p14="http://schemas.microsoft.com/office/powerpoint/2010/main" val="131017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74EF-A40E-A715-5650-740E25DE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F9BC7-3E08-6DFA-6152-E671131F71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07110CDA-7F89-C372-64D4-7F00A35FD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29) In our RV32I pipelined data path, w</a:t>
            </a:r>
            <a:r>
              <a:rPr lang="en-US" altLang="zh-CN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hich stage requires two adders?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ID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IF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EXE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MEM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WB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F7DE4DF1-197E-DFB4-EA20-603D5C63D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959" y="6159334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83446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30) Which implementations are not suitable for vanilla Von Neumann architecture</a:t>
            </a:r>
            <a:r>
              <a:rPr lang="en-US" sz="2800" dirty="0">
                <a:solidFill>
                  <a:schemeClr val="tx2"/>
                </a:solidFill>
                <a:ea typeface="Arial Unicode MS" panose="020B0604020202020204" pitchFamily="34" charset="-128"/>
              </a:rPr>
              <a:t>?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pPr marL="0" indent="0">
              <a:buNone/>
              <a:defRPr/>
            </a:pPr>
            <a:endParaRPr lang="en-US" sz="2800" baseline="300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A Single Cycle Data Path </a:t>
            </a: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A Multi-cycle Data Path</a:t>
            </a: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A Pipelined Data Path </a:t>
            </a: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A Superscalar Data Path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</a:endParaRPr>
          </a:p>
          <a:p>
            <a:pPr marL="457176" lvl="1" indent="0">
              <a:buNone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3AA8B-6DD7-4997-96D5-60E0A3D8B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215" y="1273408"/>
            <a:ext cx="2648320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6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31) What are the advantages of untagged BHT (Branch History Table)?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Simple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Fast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Consume less energy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Good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 for high-performance microprocessors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Low cost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7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1,2,3,5</a:t>
            </a:r>
          </a:p>
        </p:txBody>
      </p:sp>
    </p:spTree>
    <p:extLst>
      <p:ext uri="{BB962C8B-B14F-4D97-AF65-F5344CB8AC3E}">
        <p14:creationId xmlns:p14="http://schemas.microsoft.com/office/powerpoint/2010/main" val="72291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32) Which of the following control signals must be propagated through the pipelined registers to the WB stage?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Rd (target register)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WRen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(write-enable)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WBsel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(Write back selection)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BReq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6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1512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7275" y="467833"/>
            <a:ext cx="95345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33) RISC-V has a fixed instruction length (assuming NO C extension), a highly regular instruction format, and simple instructions. So RISC-V is more suitable for which of the following implementations?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Single cycle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Multi-cycle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Pipelined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Super-scalar implementation 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6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  <p:extLst>
      <p:ext uri="{BB962C8B-B14F-4D97-AF65-F5344CB8AC3E}">
        <p14:creationId xmlns:p14="http://schemas.microsoft.com/office/powerpoint/2010/main" val="393970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34) A basic block has 50 instructions; how many legal schedules are possible?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 the best case, 1 schedule only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50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In the worst case, 50! possible schedules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Less than 50x50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170359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35) A compiler can reorder instructions to prevent data hazards. Nonetheless, the compiler often faces limitations due to what constraints?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Scheduling are error prone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Memory dependencies may not be known due to possible memory aliasing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The scope of scheduling is limited due to  frequent branches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Users do not want to pay for compiler optimizations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1543" y="6159334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</a:t>
            </a:r>
          </a:p>
        </p:txBody>
      </p:sp>
    </p:spTree>
    <p:extLst>
      <p:ext uri="{BB962C8B-B14F-4D97-AF65-F5344CB8AC3E}">
        <p14:creationId xmlns:p14="http://schemas.microsoft.com/office/powerpoint/2010/main" val="379965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36)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When running a binary tree search on a pipelined data path, what hazards are likely to occur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?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Tree hazards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Structure hazards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Data hazards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Control hazards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Divergence hazards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9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3,4</a:t>
            </a:r>
          </a:p>
        </p:txBody>
      </p:sp>
    </p:spTree>
    <p:extLst>
      <p:ext uri="{BB962C8B-B14F-4D97-AF65-F5344CB8AC3E}">
        <p14:creationId xmlns:p14="http://schemas.microsoft.com/office/powerpoint/2010/main" val="243246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37) Why do some RV pipelined data path designs utilize a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comparison unit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 execute the branch-and-compare instead of using the standard ALU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The comparison unit could be faster than subtraction</a:t>
            </a:r>
            <a:endParaRPr lang="en-US" sz="2800" dirty="0">
              <a:effectLst/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Avoid setting the wrong ‘taken/not-taken’ control signal due to subtraction overflows.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The ALU at the EXE stage is needed for R-type instructions and Load/Store instructions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Comparison operation does not trap</a:t>
            </a:r>
          </a:p>
          <a:p>
            <a:pPr marL="514350" indent="-514350">
              <a:buAutoNum type="arabicParenR"/>
              <a:defRPr/>
            </a:pPr>
            <a:endParaRPr lang="en-US" sz="2800" dirty="0"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859" y="5562601"/>
            <a:ext cx="19976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</a:t>
            </a: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: 1,2,3 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61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21885</TotalTime>
  <Words>1845</Words>
  <Application>Microsoft Office PowerPoint</Application>
  <PresentationFormat>Widescreen</PresentationFormat>
  <Paragraphs>391</Paragraphs>
  <Slides>41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 Unicode MS</vt:lpstr>
      <vt:lpstr>MS Sans Serif</vt:lpstr>
      <vt:lpstr>Söhne</vt:lpstr>
      <vt:lpstr>华文楷体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CSC3050 – Computer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271</cp:revision>
  <dcterms:created xsi:type="dcterms:W3CDTF">2020-07-15T11:13:39Z</dcterms:created>
  <dcterms:modified xsi:type="dcterms:W3CDTF">2025-03-31T07:05:23Z</dcterms:modified>
</cp:coreProperties>
</file>